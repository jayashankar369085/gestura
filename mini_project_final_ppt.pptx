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libri (MS)" panose="020B0604020202020204" charset="0"/>
      <p:regular r:id="rId18"/>
    </p:embeddedFont>
    <p:embeddedFont>
      <p:font typeface="Calibri (MS) Bold" panose="020B0604020202020204" charset="0"/>
      <p:regular r:id="rId19"/>
    </p:embeddedFont>
    <p:embeddedFont>
      <p:font typeface="Times New Roman Bold" panose="02020803070505020304" pitchFamily="18" charset="0"/>
      <p:regular r:id="rId20"/>
      <p:bold r:id="rId21"/>
    </p:embeddedFont>
    <p:embeddedFont>
      <p:font typeface="TT Hoves" panose="020B0604020202020204" charset="0"/>
      <p:regular r:id="rId22"/>
    </p:embeddedFont>
    <p:embeddedFont>
      <p:font typeface="TT Hove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18" Type="http://schemas.openxmlformats.org/officeDocument/2006/relationships/image" Target="../media/image35.png"/><Relationship Id="rId3" Type="http://schemas.openxmlformats.org/officeDocument/2006/relationships/image" Target="../media/image20.svg"/><Relationship Id="rId21" Type="http://schemas.openxmlformats.org/officeDocument/2006/relationships/image" Target="../media/image38.svg"/><Relationship Id="rId7" Type="http://schemas.openxmlformats.org/officeDocument/2006/relationships/image" Target="../media/image24.svg"/><Relationship Id="rId12" Type="http://schemas.openxmlformats.org/officeDocument/2006/relationships/image" Target="../media/image29.png"/><Relationship Id="rId17" Type="http://schemas.openxmlformats.org/officeDocument/2006/relationships/image" Target="../media/image34.sv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png"/><Relationship Id="rId19" Type="http://schemas.openxmlformats.org/officeDocument/2006/relationships/image" Target="../media/image36.sv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sv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svg"/><Relationship Id="rId7" Type="http://schemas.openxmlformats.org/officeDocument/2006/relationships/image" Target="../media/image48.jpe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jpeg"/><Relationship Id="rId5" Type="http://schemas.openxmlformats.org/officeDocument/2006/relationships/image" Target="../media/image46.svg"/><Relationship Id="rId4" Type="http://schemas.openxmlformats.org/officeDocument/2006/relationships/image" Target="../media/image45.png"/><Relationship Id="rId9" Type="http://schemas.openxmlformats.org/officeDocument/2006/relationships/image" Target="../media/image50.jpeg"/></Relationships>
</file>

<file path=ppt/slides/_rels/slide1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hyperlink" Target="https://dev.mysql.com/doc/" TargetMode="External"/><Relationship Id="rId3" Type="http://schemas.openxmlformats.org/officeDocument/2006/relationships/image" Target="../media/image59.svg"/><Relationship Id="rId7" Type="http://schemas.openxmlformats.org/officeDocument/2006/relationships/hyperlink" Target="https://www.php.net/manual/en/" TargetMode="External"/><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hyperlink" Target="https://www.openstreetmap.org" TargetMode="External"/><Relationship Id="rId5" Type="http://schemas.openxmlformats.org/officeDocument/2006/relationships/hyperlink" Target="https://leafletjs.com" TargetMode="External"/><Relationship Id="rId4" Type="http://schemas.openxmlformats.org/officeDocument/2006/relationships/hyperlink" Target="https://developers.google.com/mediapipe/solutions/vision/hand_landmarker?authuser=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274320" y="358731"/>
            <a:ext cx="17746389" cy="1350497"/>
          </a:xfrm>
          <a:custGeom>
            <a:avLst/>
            <a:gdLst/>
            <a:ahLst/>
            <a:cxnLst/>
            <a:rect l="l" t="t" r="r" b="b"/>
            <a:pathLst>
              <a:path w="17746389" h="1350497">
                <a:moveTo>
                  <a:pt x="0" y="0"/>
                </a:moveTo>
                <a:lnTo>
                  <a:pt x="17746389" y="0"/>
                </a:lnTo>
                <a:lnTo>
                  <a:pt x="17746389" y="1350497"/>
                </a:lnTo>
                <a:lnTo>
                  <a:pt x="0" y="1350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0020" y="1911439"/>
            <a:ext cx="17974989" cy="8131131"/>
          </a:xfrm>
          <a:custGeom>
            <a:avLst/>
            <a:gdLst/>
            <a:ahLst/>
            <a:cxnLst/>
            <a:rect l="l" t="t" r="r" b="b"/>
            <a:pathLst>
              <a:path w="17974989" h="8131131">
                <a:moveTo>
                  <a:pt x="0" y="0"/>
                </a:moveTo>
                <a:lnTo>
                  <a:pt x="17974989" y="0"/>
                </a:lnTo>
                <a:lnTo>
                  <a:pt x="17974989" y="8131130"/>
                </a:lnTo>
                <a:lnTo>
                  <a:pt x="0" y="8131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738028" y="339419"/>
            <a:ext cx="13065347" cy="1414501"/>
          </a:xfrm>
          <a:prstGeom prst="rect">
            <a:avLst/>
          </a:prstGeom>
        </p:spPr>
        <p:txBody>
          <a:bodyPr lIns="0" tIns="0" rIns="0" bIns="0" rtlCol="0" anchor="t">
            <a:spAutoFit/>
          </a:bodyPr>
          <a:lstStyle/>
          <a:p>
            <a:pPr algn="ctr">
              <a:lnSpc>
                <a:spcPts val="5248"/>
              </a:lnSpc>
            </a:pPr>
            <a:r>
              <a:rPr lang="en-US" sz="4859" b="1">
                <a:solidFill>
                  <a:srgbClr val="002060"/>
                </a:solidFill>
                <a:latin typeface="Calibri (MS) Bold"/>
                <a:ea typeface="Calibri (MS) Bold"/>
                <a:cs typeface="Calibri (MS) Bold"/>
                <a:sym typeface="Calibri (MS) Bold"/>
              </a:rPr>
              <a:t>Department of Computer Science and Engineering Jyothy Institute of Technology</a:t>
            </a:r>
          </a:p>
        </p:txBody>
      </p:sp>
      <p:sp>
        <p:nvSpPr>
          <p:cNvPr id="5" name="TextBox 5"/>
          <p:cNvSpPr txBox="1"/>
          <p:nvPr/>
        </p:nvSpPr>
        <p:spPr>
          <a:xfrm>
            <a:off x="7480078" y="8970921"/>
            <a:ext cx="3400039" cy="586930"/>
          </a:xfrm>
          <a:prstGeom prst="rect">
            <a:avLst/>
          </a:prstGeom>
        </p:spPr>
        <p:txBody>
          <a:bodyPr lIns="0" tIns="0" rIns="0" bIns="0" rtlCol="0" anchor="t">
            <a:spAutoFit/>
          </a:bodyPr>
          <a:lstStyle/>
          <a:p>
            <a:pPr algn="l">
              <a:lnSpc>
                <a:spcPts val="4662"/>
              </a:lnSpc>
            </a:pPr>
            <a:r>
              <a:rPr lang="en-US" sz="3330">
                <a:solidFill>
                  <a:srgbClr val="000000"/>
                </a:solidFill>
                <a:latin typeface="Times New Roman"/>
                <a:ea typeface="Times New Roman"/>
                <a:cs typeface="Times New Roman"/>
                <a:sym typeface="Times New Roman"/>
              </a:rPr>
              <a:t>Date : 11-11-2025</a:t>
            </a:r>
          </a:p>
        </p:txBody>
      </p:sp>
      <p:sp>
        <p:nvSpPr>
          <p:cNvPr id="6" name="TextBox 6"/>
          <p:cNvSpPr txBox="1"/>
          <p:nvPr/>
        </p:nvSpPr>
        <p:spPr>
          <a:xfrm>
            <a:off x="1924726" y="2290101"/>
            <a:ext cx="2974500" cy="538163"/>
          </a:xfrm>
          <a:prstGeom prst="rect">
            <a:avLst/>
          </a:prstGeom>
        </p:spPr>
        <p:txBody>
          <a:bodyPr lIns="0" tIns="0" rIns="0" bIns="0" rtlCol="0" anchor="t">
            <a:spAutoFit/>
          </a:bodyPr>
          <a:lstStyle/>
          <a:p>
            <a:pPr algn="l">
              <a:lnSpc>
                <a:spcPts val="4200"/>
              </a:lnSpc>
            </a:pPr>
            <a:r>
              <a:rPr lang="en-US" sz="3000" b="1">
                <a:solidFill>
                  <a:srgbClr val="FFFFFF"/>
                </a:solidFill>
                <a:latin typeface="Times New Roman Bold"/>
                <a:ea typeface="Times New Roman Bold"/>
                <a:cs typeface="Times New Roman Bold"/>
                <a:sym typeface="Times New Roman Bold"/>
              </a:rPr>
              <a:t>Mini Project Title</a:t>
            </a:r>
          </a:p>
        </p:txBody>
      </p:sp>
      <p:sp>
        <p:nvSpPr>
          <p:cNvPr id="7" name="TextBox 7"/>
          <p:cNvSpPr txBox="1"/>
          <p:nvPr/>
        </p:nvSpPr>
        <p:spPr>
          <a:xfrm>
            <a:off x="2654075" y="7127072"/>
            <a:ext cx="859350" cy="499110"/>
          </a:xfrm>
          <a:prstGeom prst="rect">
            <a:avLst/>
          </a:prstGeom>
        </p:spPr>
        <p:txBody>
          <a:bodyPr lIns="0" tIns="0" rIns="0" bIns="0" rtlCol="0" anchor="t">
            <a:spAutoFit/>
          </a:bodyPr>
          <a:lstStyle/>
          <a:p>
            <a:pPr algn="l">
              <a:lnSpc>
                <a:spcPts val="3779"/>
              </a:lnSpc>
            </a:pPr>
            <a:r>
              <a:rPr lang="en-US" sz="2700" b="1">
                <a:solidFill>
                  <a:srgbClr val="FFFFFF"/>
                </a:solidFill>
                <a:latin typeface="Calibri (MS) Bold"/>
                <a:ea typeface="Calibri (MS) Bold"/>
                <a:cs typeface="Calibri (MS) Bold"/>
                <a:sym typeface="Calibri (MS) Bold"/>
              </a:rPr>
              <a:t>Guide</a:t>
            </a:r>
          </a:p>
        </p:txBody>
      </p:sp>
      <p:sp>
        <p:nvSpPr>
          <p:cNvPr id="8" name="TextBox 8"/>
          <p:cNvSpPr txBox="1"/>
          <p:nvPr/>
        </p:nvSpPr>
        <p:spPr>
          <a:xfrm>
            <a:off x="2654075" y="3696614"/>
            <a:ext cx="2245152" cy="2731846"/>
          </a:xfrm>
          <a:prstGeom prst="rect">
            <a:avLst/>
          </a:prstGeom>
        </p:spPr>
        <p:txBody>
          <a:bodyPr lIns="0" tIns="0" rIns="0" bIns="0" rtlCol="0" anchor="t">
            <a:spAutoFit/>
          </a:bodyPr>
          <a:lstStyle/>
          <a:p>
            <a:pPr algn="just">
              <a:lnSpc>
                <a:spcPts val="4379"/>
              </a:lnSpc>
            </a:pPr>
            <a:r>
              <a:rPr lang="en-US" sz="2700" b="1">
                <a:solidFill>
                  <a:srgbClr val="FFFFFF"/>
                </a:solidFill>
                <a:latin typeface="Calibri (MS) Bold"/>
                <a:ea typeface="Calibri (MS) Bold"/>
                <a:cs typeface="Calibri (MS) Bold"/>
                <a:sym typeface="Calibri (MS) Bold"/>
              </a:rPr>
              <a:t>USN </a:t>
            </a:r>
          </a:p>
          <a:p>
            <a:pPr algn="just">
              <a:lnSpc>
                <a:spcPts val="4379"/>
              </a:lnSpc>
            </a:pPr>
            <a:r>
              <a:rPr lang="en-US" sz="2700">
                <a:solidFill>
                  <a:srgbClr val="000000"/>
                </a:solidFill>
                <a:latin typeface="Calibri (MS)"/>
                <a:ea typeface="Calibri (MS)"/>
                <a:cs typeface="Calibri (MS)"/>
                <a:sym typeface="Calibri (MS)"/>
              </a:rPr>
              <a:t>1JT23CS067</a:t>
            </a:r>
          </a:p>
          <a:p>
            <a:pPr algn="just">
              <a:lnSpc>
                <a:spcPts val="4379"/>
              </a:lnSpc>
            </a:pPr>
            <a:r>
              <a:rPr lang="en-US" sz="2700">
                <a:solidFill>
                  <a:srgbClr val="000000"/>
                </a:solidFill>
                <a:latin typeface="Calibri (MS)"/>
                <a:ea typeface="Calibri (MS)"/>
                <a:cs typeface="Calibri (MS)"/>
                <a:sym typeface="Calibri (MS)"/>
              </a:rPr>
              <a:t>1JT23CS105</a:t>
            </a:r>
          </a:p>
          <a:p>
            <a:pPr algn="just">
              <a:lnSpc>
                <a:spcPts val="4379"/>
              </a:lnSpc>
            </a:pPr>
            <a:r>
              <a:rPr lang="en-US" sz="2700">
                <a:solidFill>
                  <a:srgbClr val="000000"/>
                </a:solidFill>
                <a:latin typeface="Calibri (MS)"/>
                <a:ea typeface="Calibri (MS)"/>
                <a:cs typeface="Calibri (MS)"/>
                <a:sym typeface="Calibri (MS)"/>
              </a:rPr>
              <a:t>1JT23CS108</a:t>
            </a:r>
          </a:p>
          <a:p>
            <a:pPr algn="just">
              <a:lnSpc>
                <a:spcPts val="4379"/>
              </a:lnSpc>
            </a:pPr>
            <a:r>
              <a:rPr lang="en-US" sz="2700">
                <a:solidFill>
                  <a:srgbClr val="000000"/>
                </a:solidFill>
                <a:latin typeface="Calibri (MS)"/>
                <a:ea typeface="Calibri (MS)"/>
                <a:cs typeface="Calibri (MS)"/>
                <a:sym typeface="Calibri (MS)"/>
              </a:rPr>
              <a:t>1JT23CS120</a:t>
            </a:r>
          </a:p>
        </p:txBody>
      </p:sp>
      <p:sp>
        <p:nvSpPr>
          <p:cNvPr id="9" name="TextBox 9"/>
          <p:cNvSpPr txBox="1"/>
          <p:nvPr/>
        </p:nvSpPr>
        <p:spPr>
          <a:xfrm>
            <a:off x="8750079" y="3684056"/>
            <a:ext cx="2989031" cy="2731846"/>
          </a:xfrm>
          <a:prstGeom prst="rect">
            <a:avLst/>
          </a:prstGeom>
        </p:spPr>
        <p:txBody>
          <a:bodyPr lIns="0" tIns="0" rIns="0" bIns="0" rtlCol="0" anchor="t">
            <a:spAutoFit/>
          </a:bodyPr>
          <a:lstStyle/>
          <a:p>
            <a:pPr algn="just">
              <a:lnSpc>
                <a:spcPts val="4379"/>
              </a:lnSpc>
            </a:pPr>
            <a:r>
              <a:rPr lang="en-US" sz="2700" b="1">
                <a:solidFill>
                  <a:srgbClr val="FFFFFF"/>
                </a:solidFill>
                <a:latin typeface="Calibri (MS) Bold"/>
                <a:ea typeface="Calibri (MS) Bold"/>
                <a:cs typeface="Calibri (MS) Bold"/>
                <a:sym typeface="Calibri (MS) Bold"/>
              </a:rPr>
              <a:t>Name of Student </a:t>
            </a:r>
            <a:r>
              <a:rPr lang="en-US" sz="2700">
                <a:solidFill>
                  <a:srgbClr val="000000"/>
                </a:solidFill>
                <a:latin typeface="Calibri (MS)"/>
                <a:ea typeface="Calibri (MS)"/>
                <a:cs typeface="Calibri (MS)"/>
                <a:sym typeface="Calibri (MS)"/>
              </a:rPr>
              <a:t>Jayashankar P</a:t>
            </a:r>
          </a:p>
          <a:p>
            <a:pPr algn="just">
              <a:lnSpc>
                <a:spcPts val="4379"/>
              </a:lnSpc>
            </a:pPr>
            <a:r>
              <a:rPr lang="en-US" sz="2700">
                <a:solidFill>
                  <a:srgbClr val="000000"/>
                </a:solidFill>
                <a:latin typeface="Calibri (MS)"/>
                <a:ea typeface="Calibri (MS)"/>
                <a:cs typeface="Calibri (MS)"/>
                <a:sym typeface="Calibri (MS)"/>
              </a:rPr>
              <a:t>Parnika S M</a:t>
            </a:r>
          </a:p>
          <a:p>
            <a:pPr algn="just">
              <a:lnSpc>
                <a:spcPts val="4379"/>
              </a:lnSpc>
            </a:pPr>
            <a:r>
              <a:rPr lang="en-US" sz="2700">
                <a:solidFill>
                  <a:srgbClr val="000000"/>
                </a:solidFill>
                <a:latin typeface="Calibri (MS)"/>
                <a:ea typeface="Calibri (MS)"/>
                <a:cs typeface="Calibri (MS)"/>
                <a:sym typeface="Calibri (MS)"/>
              </a:rPr>
              <a:t>Prajwal Mudrabett</a:t>
            </a:r>
          </a:p>
          <a:p>
            <a:pPr algn="just">
              <a:lnSpc>
                <a:spcPts val="4379"/>
              </a:lnSpc>
            </a:pPr>
            <a:r>
              <a:rPr lang="en-US" sz="2700">
                <a:solidFill>
                  <a:srgbClr val="000000"/>
                </a:solidFill>
                <a:latin typeface="Calibri (MS)"/>
                <a:ea typeface="Calibri (MS)"/>
                <a:cs typeface="Calibri (MS)"/>
                <a:sym typeface="Calibri (MS)"/>
              </a:rPr>
              <a:t>Rahul R Vasisht</a:t>
            </a:r>
          </a:p>
        </p:txBody>
      </p:sp>
      <p:sp>
        <p:nvSpPr>
          <p:cNvPr id="10" name="TextBox 10"/>
          <p:cNvSpPr txBox="1"/>
          <p:nvPr/>
        </p:nvSpPr>
        <p:spPr>
          <a:xfrm>
            <a:off x="8750079" y="7174697"/>
            <a:ext cx="2989031" cy="1274445"/>
          </a:xfrm>
          <a:prstGeom prst="rect">
            <a:avLst/>
          </a:prstGeom>
        </p:spPr>
        <p:txBody>
          <a:bodyPr lIns="0" tIns="0" rIns="0" bIns="0" rtlCol="0" anchor="t">
            <a:spAutoFit/>
          </a:bodyPr>
          <a:lstStyle/>
          <a:p>
            <a:pPr algn="l">
              <a:lnSpc>
                <a:spcPts val="3240"/>
              </a:lnSpc>
            </a:pPr>
            <a:r>
              <a:rPr lang="en-US" sz="2700" b="1">
                <a:solidFill>
                  <a:srgbClr val="FFFFFF"/>
                </a:solidFill>
                <a:latin typeface="Calibri (MS) Bold"/>
                <a:ea typeface="Calibri (MS) Bold"/>
                <a:cs typeface="Calibri (MS) Bold"/>
                <a:sym typeface="Calibri (MS) Bold"/>
              </a:rPr>
              <a:t>NAGARAJ. A Professor of Practice Dept of CSE, JIT</a:t>
            </a:r>
          </a:p>
        </p:txBody>
      </p:sp>
      <p:sp>
        <p:nvSpPr>
          <p:cNvPr id="11" name="TextBox 11"/>
          <p:cNvSpPr txBox="1"/>
          <p:nvPr/>
        </p:nvSpPr>
        <p:spPr>
          <a:xfrm>
            <a:off x="8125921" y="2299626"/>
            <a:ext cx="7226378" cy="528638"/>
          </a:xfrm>
          <a:prstGeom prst="rect">
            <a:avLst/>
          </a:prstGeom>
        </p:spPr>
        <p:txBody>
          <a:bodyPr lIns="0" tIns="0" rIns="0" bIns="0" rtlCol="0" anchor="t">
            <a:spAutoFit/>
          </a:bodyPr>
          <a:lstStyle/>
          <a:p>
            <a:pPr algn="l">
              <a:lnSpc>
                <a:spcPts val="4199"/>
              </a:lnSpc>
            </a:pPr>
            <a:r>
              <a:rPr lang="en-US" sz="2999" b="1">
                <a:solidFill>
                  <a:srgbClr val="FFFFFF"/>
                </a:solidFill>
                <a:latin typeface="Times New Roman Bold"/>
                <a:ea typeface="Times New Roman Bold"/>
                <a:cs typeface="Times New Roman Bold"/>
                <a:sym typeface="Times New Roman Bold"/>
              </a:rPr>
              <a:t>Gesture controlled car infotainment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7300" y="547683"/>
            <a:ext cx="15773400" cy="1988349"/>
          </a:xfrm>
          <a:custGeom>
            <a:avLst/>
            <a:gdLst/>
            <a:ahLst/>
            <a:cxnLst/>
            <a:rect l="l" t="t" r="r" b="b"/>
            <a:pathLst>
              <a:path w="15773400" h="1988349">
                <a:moveTo>
                  <a:pt x="0" y="0"/>
                </a:moveTo>
                <a:lnTo>
                  <a:pt x="15773400" y="0"/>
                </a:lnTo>
                <a:lnTo>
                  <a:pt x="15773400" y="1988348"/>
                </a:lnTo>
                <a:lnTo>
                  <a:pt x="0" y="1988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915900" y="9534520"/>
            <a:ext cx="4114800" cy="547683"/>
          </a:xfrm>
          <a:custGeom>
            <a:avLst/>
            <a:gdLst/>
            <a:ahLst/>
            <a:cxnLst/>
            <a:rect l="l" t="t" r="r" b="b"/>
            <a:pathLst>
              <a:path w="4114800" h="547683">
                <a:moveTo>
                  <a:pt x="0" y="0"/>
                </a:moveTo>
                <a:lnTo>
                  <a:pt x="4114800" y="0"/>
                </a:lnTo>
                <a:lnTo>
                  <a:pt x="4114800" y="547683"/>
                </a:lnTo>
                <a:lnTo>
                  <a:pt x="0" y="5476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385888" y="903003"/>
            <a:ext cx="6715739" cy="123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Problem statement</a:t>
            </a:r>
          </a:p>
        </p:txBody>
      </p:sp>
      <p:sp>
        <p:nvSpPr>
          <p:cNvPr id="6" name="TextBox 6"/>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7" name="TextBox 7"/>
          <p:cNvSpPr txBox="1"/>
          <p:nvPr/>
        </p:nvSpPr>
        <p:spPr>
          <a:xfrm>
            <a:off x="16786255" y="9638900"/>
            <a:ext cx="117986" cy="339090"/>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2</a:t>
            </a:r>
          </a:p>
        </p:txBody>
      </p:sp>
      <p:sp>
        <p:nvSpPr>
          <p:cNvPr id="8" name="TextBox 8"/>
          <p:cNvSpPr txBox="1"/>
          <p:nvPr/>
        </p:nvSpPr>
        <p:spPr>
          <a:xfrm>
            <a:off x="1257300" y="2855595"/>
            <a:ext cx="16230600" cy="4442460"/>
          </a:xfrm>
          <a:prstGeom prst="rect">
            <a:avLst/>
          </a:prstGeom>
        </p:spPr>
        <p:txBody>
          <a:bodyPr lIns="0" tIns="0" rIns="0" bIns="0" rtlCol="0" anchor="t">
            <a:spAutoFit/>
          </a:bodyPr>
          <a:lstStyle/>
          <a:p>
            <a:pPr algn="just">
              <a:lnSpc>
                <a:spcPts val="5040"/>
              </a:lnSpc>
              <a:spcBef>
                <a:spcPct val="0"/>
              </a:spcBef>
            </a:pPr>
            <a:r>
              <a:rPr lang="en-US" sz="3600">
                <a:solidFill>
                  <a:srgbClr val="000000"/>
                </a:solidFill>
                <a:latin typeface="Calibri (MS)"/>
                <a:ea typeface="Calibri (MS)"/>
                <a:cs typeface="Calibri (MS)"/>
                <a:sym typeface="Calibri (MS)"/>
              </a:rPr>
              <a:t>“Modern car infotainment systems primarily depend on touchscreens and physical controls, which require drivers to take their eyes off the road and hands off the steering wheel. This distraction can delay driver reactions and increase the likelihood of accidents. Furthermore, existing voice-controlled systems often struggle with accuracy in noisy environments or when faced with unclear speech inputs. Hence, there is a need for a </a:t>
            </a:r>
            <a:r>
              <a:rPr lang="en-US" sz="3600" b="1">
                <a:solidFill>
                  <a:srgbClr val="000000"/>
                </a:solidFill>
                <a:latin typeface="Calibri (MS) Bold"/>
                <a:ea typeface="Calibri (MS) Bold"/>
                <a:cs typeface="Calibri (MS) Bold"/>
                <a:sym typeface="Calibri (MS) Bold"/>
              </a:rPr>
              <a:t>safer, more reliable, and intuitive interaction method</a:t>
            </a:r>
            <a:r>
              <a:rPr lang="en-US" sz="3600">
                <a:solidFill>
                  <a:srgbClr val="000000"/>
                </a:solidFill>
                <a:latin typeface="Calibri (MS)"/>
                <a:ea typeface="Calibri (MS)"/>
                <a:cs typeface="Calibri (MS)"/>
                <a:sym typeface="Calibri (MS)"/>
              </a:rPr>
              <a:t> to enhance driver </a:t>
            </a:r>
            <a:r>
              <a:rPr lang="en-US" sz="3600" b="1">
                <a:solidFill>
                  <a:srgbClr val="000000"/>
                </a:solidFill>
                <a:latin typeface="Calibri (MS) Bold"/>
                <a:ea typeface="Calibri (MS) Bold"/>
                <a:cs typeface="Calibri (MS) Bold"/>
                <a:sym typeface="Calibri (MS) Bold"/>
              </a:rPr>
              <a:t>safety and usability.</a:t>
            </a:r>
            <a:r>
              <a:rPr lang="en-US" sz="3600">
                <a:solidFill>
                  <a:srgbClr val="000000"/>
                </a:solidFill>
                <a:latin typeface="Calibri (MS)"/>
                <a:ea typeface="Calibri (MS)"/>
                <a:cs typeface="Calibri (MS)"/>
                <a:sym typeface="Calibri (M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7300" y="547683"/>
            <a:ext cx="15773400" cy="1988349"/>
          </a:xfrm>
          <a:custGeom>
            <a:avLst/>
            <a:gdLst/>
            <a:ahLst/>
            <a:cxnLst/>
            <a:rect l="l" t="t" r="r" b="b"/>
            <a:pathLst>
              <a:path w="15773400" h="1988349">
                <a:moveTo>
                  <a:pt x="0" y="0"/>
                </a:moveTo>
                <a:lnTo>
                  <a:pt x="15773400" y="0"/>
                </a:lnTo>
                <a:lnTo>
                  <a:pt x="15773400" y="1988348"/>
                </a:lnTo>
                <a:lnTo>
                  <a:pt x="0" y="1988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915900" y="9534520"/>
            <a:ext cx="4114800" cy="547683"/>
          </a:xfrm>
          <a:custGeom>
            <a:avLst/>
            <a:gdLst/>
            <a:ahLst/>
            <a:cxnLst/>
            <a:rect l="l" t="t" r="r" b="b"/>
            <a:pathLst>
              <a:path w="4114800" h="547683">
                <a:moveTo>
                  <a:pt x="0" y="0"/>
                </a:moveTo>
                <a:lnTo>
                  <a:pt x="4114800" y="0"/>
                </a:lnTo>
                <a:lnTo>
                  <a:pt x="4114800" y="547683"/>
                </a:lnTo>
                <a:lnTo>
                  <a:pt x="0" y="5476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385887" y="903003"/>
            <a:ext cx="15644812" cy="127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Functional and Non-Functional requirements</a:t>
            </a:r>
          </a:p>
        </p:txBody>
      </p:sp>
      <p:sp>
        <p:nvSpPr>
          <p:cNvPr id="6" name="TextBox 6"/>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7" name="TextBox 7"/>
          <p:cNvSpPr txBox="1"/>
          <p:nvPr/>
        </p:nvSpPr>
        <p:spPr>
          <a:xfrm>
            <a:off x="16786255" y="9638900"/>
            <a:ext cx="117986" cy="339090"/>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3</a:t>
            </a:r>
          </a:p>
        </p:txBody>
      </p:sp>
      <p:grpSp>
        <p:nvGrpSpPr>
          <p:cNvPr id="8" name="Group 8"/>
          <p:cNvGrpSpPr/>
          <p:nvPr/>
        </p:nvGrpSpPr>
        <p:grpSpPr>
          <a:xfrm>
            <a:off x="1040773" y="2536031"/>
            <a:ext cx="7569842" cy="6722269"/>
            <a:chOff x="0" y="0"/>
            <a:chExt cx="1925029" cy="1709489"/>
          </a:xfrm>
        </p:grpSpPr>
        <p:sp>
          <p:nvSpPr>
            <p:cNvPr id="9" name="Freeform 9"/>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10" name="TextBox 10"/>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sp>
        <p:nvSpPr>
          <p:cNvPr id="11" name="TextBox 11"/>
          <p:cNvSpPr txBox="1"/>
          <p:nvPr/>
        </p:nvSpPr>
        <p:spPr>
          <a:xfrm>
            <a:off x="1482738" y="3123196"/>
            <a:ext cx="6685913" cy="5355092"/>
          </a:xfrm>
          <a:prstGeom prst="rect">
            <a:avLst/>
          </a:prstGeom>
        </p:spPr>
        <p:txBody>
          <a:bodyPr lIns="0" tIns="0" rIns="0" bIns="0" rtlCol="0" anchor="t">
            <a:spAutoFit/>
          </a:bodyPr>
          <a:lstStyle/>
          <a:p>
            <a:pPr algn="l">
              <a:lnSpc>
                <a:spcPts val="5040"/>
              </a:lnSpc>
              <a:spcBef>
                <a:spcPct val="0"/>
              </a:spcBef>
            </a:pPr>
            <a:r>
              <a:rPr lang="en-US" sz="3600" b="1">
                <a:solidFill>
                  <a:srgbClr val="000000"/>
                </a:solidFill>
                <a:latin typeface="TT Hoves Bold"/>
                <a:ea typeface="TT Hoves Bold"/>
                <a:cs typeface="TT Hoves Bold"/>
                <a:sym typeface="TT Hoves Bold"/>
              </a:rPr>
              <a:t>Functional (What it does)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Real-time Finger Tracking</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Gesture-Based Click (Pinch)</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Dashboard Section Navigation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Audio &amp; Map Controls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Responsive UI Design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Interactive Visual Feedback</a:t>
            </a:r>
          </a:p>
          <a:p>
            <a:pPr algn="l">
              <a:lnSpc>
                <a:spcPts val="2609"/>
              </a:lnSpc>
              <a:spcBef>
                <a:spcPct val="0"/>
              </a:spcBef>
            </a:pPr>
            <a:endParaRPr lang="en-US" sz="3600">
              <a:solidFill>
                <a:srgbClr val="000000"/>
              </a:solidFill>
              <a:latin typeface="TT Hoves"/>
              <a:ea typeface="TT Hoves"/>
              <a:cs typeface="TT Hoves"/>
              <a:sym typeface="TT Hoves"/>
            </a:endParaRPr>
          </a:p>
        </p:txBody>
      </p:sp>
      <p:grpSp>
        <p:nvGrpSpPr>
          <p:cNvPr id="12" name="Group 12"/>
          <p:cNvGrpSpPr/>
          <p:nvPr/>
        </p:nvGrpSpPr>
        <p:grpSpPr>
          <a:xfrm>
            <a:off x="9689458" y="2472945"/>
            <a:ext cx="7569842" cy="6722269"/>
            <a:chOff x="0" y="0"/>
            <a:chExt cx="1925029" cy="1709489"/>
          </a:xfrm>
        </p:grpSpPr>
        <p:sp>
          <p:nvSpPr>
            <p:cNvPr id="13" name="Freeform 13"/>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14" name="TextBox 14"/>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sp>
        <p:nvSpPr>
          <p:cNvPr id="15" name="TextBox 15"/>
          <p:cNvSpPr txBox="1"/>
          <p:nvPr/>
        </p:nvSpPr>
        <p:spPr>
          <a:xfrm>
            <a:off x="9984978" y="2922128"/>
            <a:ext cx="7686356" cy="6612392"/>
          </a:xfrm>
          <a:prstGeom prst="rect">
            <a:avLst/>
          </a:prstGeom>
        </p:spPr>
        <p:txBody>
          <a:bodyPr lIns="0" tIns="0" rIns="0" bIns="0" rtlCol="0" anchor="t">
            <a:spAutoFit/>
          </a:bodyPr>
          <a:lstStyle/>
          <a:p>
            <a:pPr algn="l">
              <a:lnSpc>
                <a:spcPts val="5040"/>
              </a:lnSpc>
              <a:spcBef>
                <a:spcPct val="0"/>
              </a:spcBef>
            </a:pPr>
            <a:r>
              <a:rPr lang="en-US" sz="3600" b="1">
                <a:solidFill>
                  <a:srgbClr val="000000"/>
                </a:solidFill>
                <a:latin typeface="TT Hoves Bold"/>
                <a:ea typeface="TT Hoves Bold"/>
                <a:cs typeface="TT Hoves Bold"/>
                <a:sym typeface="TT Hoves Bold"/>
              </a:rPr>
              <a:t>Non-Functional (How well it works)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Usability: Intuitive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Performance: Real-time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Reliability: Accurate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Compatibility: Cross-browser</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Aesthetics: Modern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Architecture: Scalable &amp; Maintainable</a:t>
            </a:r>
          </a:p>
          <a:p>
            <a:pPr algn="l">
              <a:lnSpc>
                <a:spcPts val="5040"/>
              </a:lnSpc>
              <a:spcBef>
                <a:spcPct val="0"/>
              </a:spcBef>
            </a:pPr>
            <a:endParaRPr lang="en-US" sz="3600">
              <a:solidFill>
                <a:srgbClr val="000000"/>
              </a:solidFill>
              <a:latin typeface="TT Hoves"/>
              <a:ea typeface="TT Hoves"/>
              <a:cs typeface="TT Hoves"/>
              <a:sym typeface="TT Hoves"/>
            </a:endParaRPr>
          </a:p>
          <a:p>
            <a:pPr algn="l">
              <a:lnSpc>
                <a:spcPts val="2609"/>
              </a:lnSpc>
              <a:spcBef>
                <a:spcPct val="0"/>
              </a:spcBef>
            </a:pPr>
            <a:endParaRPr lang="en-US" sz="3600">
              <a:solidFill>
                <a:srgbClr val="000000"/>
              </a:solidFill>
              <a:latin typeface="TT Hoves"/>
              <a:ea typeface="TT Hoves"/>
              <a:cs typeface="TT Hoves"/>
              <a:sym typeface="TT Hove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55254" y="260032"/>
            <a:ext cx="13306361" cy="127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List of Technologies used:</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4</a:t>
            </a:r>
          </a:p>
        </p:txBody>
      </p:sp>
      <p:sp>
        <p:nvSpPr>
          <p:cNvPr id="6" name="TextBox 6"/>
          <p:cNvSpPr txBox="1"/>
          <p:nvPr/>
        </p:nvSpPr>
        <p:spPr>
          <a:xfrm>
            <a:off x="1260552" y="1974035"/>
            <a:ext cx="15998748" cy="6612392"/>
          </a:xfrm>
          <a:prstGeom prst="rect">
            <a:avLst/>
          </a:prstGeom>
        </p:spPr>
        <p:txBody>
          <a:bodyPr lIns="0" tIns="0" rIns="0" bIns="0" rtlCol="0" anchor="t">
            <a:spAutoFit/>
          </a:bodyPr>
          <a:lstStyle/>
          <a:p>
            <a:pPr algn="l">
              <a:lnSpc>
                <a:spcPts val="5040"/>
              </a:lnSpc>
              <a:spcBef>
                <a:spcPct val="0"/>
              </a:spcBef>
            </a:pPr>
            <a:r>
              <a:rPr lang="en-US" sz="3600" b="1">
                <a:solidFill>
                  <a:srgbClr val="000000"/>
                </a:solidFill>
                <a:latin typeface="TT Hoves Bold"/>
                <a:ea typeface="TT Hoves Bold"/>
                <a:cs typeface="TT Hoves Bold"/>
                <a:sym typeface="TT Hoves Bold"/>
              </a:rPr>
              <a:t>1. Frontend &amp; UI</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HTML5: Main structure for the dashboard.</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CSS3: Styling, layout, and responsive design.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JavaScript (ES6+): Dynamic updates and event handling.</a:t>
            </a:r>
          </a:p>
          <a:p>
            <a:pPr algn="l">
              <a:lnSpc>
                <a:spcPts val="5040"/>
              </a:lnSpc>
              <a:spcBef>
                <a:spcPct val="0"/>
              </a:spcBef>
            </a:pPr>
            <a:r>
              <a:rPr lang="en-US" sz="3600" b="1">
                <a:solidFill>
                  <a:srgbClr val="000000"/>
                </a:solidFill>
                <a:latin typeface="TT Hoves Bold"/>
                <a:ea typeface="TT Hoves Bold"/>
                <a:cs typeface="TT Hoves Bold"/>
                <a:sym typeface="TT Hoves Bold"/>
              </a:rPr>
              <a:t>2. Backend &amp; Database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PHP: Server-side logic (e.g., song uploads, API).</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SQL (MySQL): Manages user data like contacts and playlists.</a:t>
            </a:r>
          </a:p>
          <a:p>
            <a:pPr algn="l">
              <a:lnSpc>
                <a:spcPts val="5040"/>
              </a:lnSpc>
              <a:spcBef>
                <a:spcPct val="0"/>
              </a:spcBef>
            </a:pPr>
            <a:r>
              <a:rPr lang="en-US" sz="3600" b="1">
                <a:solidFill>
                  <a:srgbClr val="000000"/>
                </a:solidFill>
                <a:latin typeface="TT Hoves Bold"/>
                <a:ea typeface="TT Hoves Bold"/>
                <a:cs typeface="TT Hoves Bold"/>
                <a:sym typeface="TT Hoves Bold"/>
              </a:rPr>
              <a:t>3. Key Feature Libraries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MediaPipe Hands (Google): For real-time hand and finger tracking.</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Leaflet.js: Powers interactive maps and navigation.</a:t>
            </a:r>
          </a:p>
          <a:p>
            <a:pPr algn="l">
              <a:lnSpc>
                <a:spcPts val="2609"/>
              </a:lnSpc>
              <a:spcBef>
                <a:spcPct val="0"/>
              </a:spcBef>
            </a:pPr>
            <a:endParaRPr lang="en-US" sz="3600">
              <a:solidFill>
                <a:srgbClr val="000000"/>
              </a:solidFill>
              <a:latin typeface="TT Hoves"/>
              <a:ea typeface="TT Hoves"/>
              <a:cs typeface="TT Hoves"/>
              <a:sym typeface="TT Hove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55254" y="260033"/>
            <a:ext cx="13306361" cy="127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List of Tools used:</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5</a:t>
            </a:r>
          </a:p>
        </p:txBody>
      </p:sp>
      <p:sp>
        <p:nvSpPr>
          <p:cNvPr id="6" name="TextBox 6"/>
          <p:cNvSpPr txBox="1"/>
          <p:nvPr/>
        </p:nvSpPr>
        <p:spPr>
          <a:xfrm>
            <a:off x="1260552" y="1564410"/>
            <a:ext cx="15998748" cy="7241042"/>
          </a:xfrm>
          <a:prstGeom prst="rect">
            <a:avLst/>
          </a:prstGeom>
        </p:spPr>
        <p:txBody>
          <a:bodyPr lIns="0" tIns="0" rIns="0" bIns="0" rtlCol="0" anchor="t">
            <a:spAutoFit/>
          </a:bodyPr>
          <a:lstStyle/>
          <a:p>
            <a:pPr algn="l">
              <a:lnSpc>
                <a:spcPts val="5040"/>
              </a:lnSpc>
              <a:spcBef>
                <a:spcPct val="0"/>
              </a:spcBef>
            </a:pPr>
            <a:r>
              <a:rPr lang="en-US" sz="3600" b="1" dirty="0">
                <a:solidFill>
                  <a:srgbClr val="000000"/>
                </a:solidFill>
                <a:latin typeface="TT Hoves Bold"/>
                <a:ea typeface="TT Hoves Bold"/>
                <a:cs typeface="TT Hoves Bold"/>
                <a:sym typeface="TT Hoves Bold"/>
              </a:rPr>
              <a:t>1. Development Environment</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XAMPP / Apache Server: Local server for running PHP.</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Visual Studio Code (IDE): Primary code editor.</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Browser Developer Tools: For debugging and performance tuning.</a:t>
            </a:r>
          </a:p>
          <a:p>
            <a:pPr algn="l">
              <a:lnSpc>
                <a:spcPts val="5040"/>
              </a:lnSpc>
              <a:spcBef>
                <a:spcPct val="0"/>
              </a:spcBef>
            </a:pPr>
            <a:r>
              <a:rPr lang="en-US" sz="3600" b="1" dirty="0">
                <a:solidFill>
                  <a:srgbClr val="000000"/>
                </a:solidFill>
                <a:latin typeface="TT Hoves Bold"/>
                <a:ea typeface="TT Hoves Bold"/>
                <a:cs typeface="TT Hoves Bold"/>
                <a:sym typeface="TT Hoves Bold"/>
              </a:rPr>
              <a:t>2. Hardware &amp; APIs</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Webcam / Laptop Camera: Required hardware for gesture input.</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OpenStreetMap (</a:t>
            </a:r>
            <a:r>
              <a:rPr lang="en-US" sz="3600" dirty="0" err="1">
                <a:solidFill>
                  <a:srgbClr val="000000"/>
                </a:solidFill>
                <a:latin typeface="TT Hoves"/>
                <a:ea typeface="TT Hoves"/>
                <a:cs typeface="TT Hoves"/>
                <a:sym typeface="TT Hoves"/>
              </a:rPr>
              <a:t>Nominatim</a:t>
            </a:r>
            <a:r>
              <a:rPr lang="en-US" sz="3600" dirty="0">
                <a:solidFill>
                  <a:srgbClr val="000000"/>
                </a:solidFill>
                <a:latin typeface="TT Hoves"/>
                <a:ea typeface="TT Hoves"/>
                <a:cs typeface="TT Hoves"/>
                <a:sym typeface="TT Hoves"/>
              </a:rPr>
              <a:t> API): Used for geocoding and routes.</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HTML5 Audio API: Handles media playback and controls.</a:t>
            </a:r>
          </a:p>
          <a:p>
            <a:pPr algn="l">
              <a:lnSpc>
                <a:spcPts val="5040"/>
              </a:lnSpc>
              <a:spcBef>
                <a:spcPct val="0"/>
              </a:spcBef>
            </a:pPr>
            <a:r>
              <a:rPr lang="en-US" sz="3600" b="1" dirty="0">
                <a:solidFill>
                  <a:srgbClr val="000000"/>
                </a:solidFill>
                <a:latin typeface="TT Hoves Bold"/>
                <a:ea typeface="TT Hoves Bold"/>
                <a:cs typeface="TT Hoves Bold"/>
                <a:sym typeface="TT Hoves Bold"/>
              </a:rPr>
              <a:t>3. Data &amp; Communication</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JSON: Data format for API communication.</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Fetch API (HTTP): Manages frontend-to-backend requests.</a:t>
            </a:r>
          </a:p>
          <a:p>
            <a:pPr algn="l">
              <a:lnSpc>
                <a:spcPts val="2609"/>
              </a:lnSpc>
              <a:spcBef>
                <a:spcPct val="0"/>
              </a:spcBef>
            </a:pPr>
            <a:endParaRPr lang="en-US" sz="3600" dirty="0">
              <a:solidFill>
                <a:srgbClr val="000000"/>
              </a:solidFill>
              <a:latin typeface="TT Hoves"/>
              <a:ea typeface="TT Hoves"/>
              <a:cs typeface="TT Hoves"/>
              <a:sym typeface="TT Hove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TextBox 2"/>
          <p:cNvSpPr txBox="1"/>
          <p:nvPr/>
        </p:nvSpPr>
        <p:spPr>
          <a:xfrm>
            <a:off x="720988" y="555027"/>
            <a:ext cx="15887200"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1 to 4 activities</a:t>
            </a:r>
          </a:p>
        </p:txBody>
      </p:sp>
      <p:sp>
        <p:nvSpPr>
          <p:cNvPr id="3" name="TextBox 3"/>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4" name="TextBox 4"/>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6</a:t>
            </a:r>
          </a:p>
        </p:txBody>
      </p:sp>
      <p:sp>
        <p:nvSpPr>
          <p:cNvPr id="5" name="TextBox 5"/>
          <p:cNvSpPr txBox="1"/>
          <p:nvPr/>
        </p:nvSpPr>
        <p:spPr>
          <a:xfrm>
            <a:off x="1266296" y="1769345"/>
            <a:ext cx="13363840" cy="8214360"/>
          </a:xfrm>
          <a:prstGeom prst="rect">
            <a:avLst/>
          </a:prstGeom>
        </p:spPr>
        <p:txBody>
          <a:bodyPr lIns="0" tIns="0" rIns="0" bIns="0" rtlCol="0" anchor="t">
            <a:spAutoFit/>
          </a:bodyPr>
          <a:lstStyle/>
          <a:p>
            <a:pPr algn="just">
              <a:lnSpc>
                <a:spcPts val="5040"/>
              </a:lnSpc>
            </a:pPr>
            <a:r>
              <a:rPr lang="en-US" sz="3600" b="1">
                <a:solidFill>
                  <a:srgbClr val="000000"/>
                </a:solidFill>
                <a:latin typeface="Calibri (MS) Bold"/>
                <a:ea typeface="Calibri (MS) Bold"/>
                <a:cs typeface="Calibri (MS) Bold"/>
                <a:sym typeface="Calibri (MS) Bold"/>
              </a:rPr>
              <a:t>Foundation &amp; Setup</a:t>
            </a:r>
          </a:p>
          <a:p>
            <a:pPr algn="just">
              <a:lnSpc>
                <a:spcPts val="5040"/>
              </a:lnSpc>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a:t>
            </a:r>
            <a:r>
              <a:rPr lang="en-US" sz="3600">
                <a:solidFill>
                  <a:srgbClr val="000000"/>
                </a:solidFill>
                <a:latin typeface="Calibri (MS)"/>
                <a:ea typeface="Calibri (MS)"/>
                <a:cs typeface="Calibri (MS)"/>
                <a:sym typeface="Calibri (MS)"/>
              </a:rPr>
              <a:t> Project Definition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Topic: Gesture Controlled Car Infotainment System</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Conducted literature survey (MediaPipe, Infotainment UX)</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2:</a:t>
            </a:r>
            <a:r>
              <a:rPr lang="en-US" sz="3600">
                <a:solidFill>
                  <a:srgbClr val="000000"/>
                </a:solidFill>
                <a:latin typeface="Calibri (MS)"/>
                <a:ea typeface="Calibri (MS)"/>
                <a:cs typeface="Calibri (MS)"/>
                <a:sym typeface="Calibri (MS)"/>
              </a:rPr>
              <a:t> Requirement Analysis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Identified hardware (webcam) &amp; software (HTML, JS, PHP)</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3:</a:t>
            </a:r>
            <a:r>
              <a:rPr lang="en-US" sz="3600">
                <a:solidFill>
                  <a:srgbClr val="000000"/>
                </a:solidFill>
                <a:latin typeface="Calibri (MS)"/>
                <a:ea typeface="Calibri (MS)"/>
                <a:cs typeface="Calibri (MS)"/>
                <a:sym typeface="Calibri (MS)"/>
              </a:rPr>
              <a:t> System Design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Designed 3-layer architecture (Frontend, Backend, DB)</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Created UI wireframes &amp; database schema</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4:</a:t>
            </a:r>
            <a:r>
              <a:rPr lang="en-US" sz="3600">
                <a:solidFill>
                  <a:srgbClr val="000000"/>
                </a:solidFill>
                <a:latin typeface="Calibri (MS)"/>
                <a:ea typeface="Calibri (MS)"/>
                <a:cs typeface="Calibri (MS)"/>
                <a:sym typeface="Calibri (MS)"/>
              </a:rPr>
              <a:t> Environment Setup</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Installed XAMPP; tested MediaPipe camera &amp; DB connection</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59231" y="547683"/>
            <a:ext cx="17618531" cy="1036187"/>
          </a:xfrm>
          <a:custGeom>
            <a:avLst/>
            <a:gdLst/>
            <a:ahLst/>
            <a:cxnLst/>
            <a:rect l="l" t="t" r="r" b="b"/>
            <a:pathLst>
              <a:path w="17618531" h="1036187">
                <a:moveTo>
                  <a:pt x="0" y="0"/>
                </a:moveTo>
                <a:lnTo>
                  <a:pt x="17618530" y="0"/>
                </a:lnTo>
                <a:lnTo>
                  <a:pt x="17618530" y="1036186"/>
                </a:lnTo>
                <a:lnTo>
                  <a:pt x="0" y="10361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3976" y="1782537"/>
            <a:ext cx="17809026" cy="8394921"/>
          </a:xfrm>
          <a:custGeom>
            <a:avLst/>
            <a:gdLst/>
            <a:ahLst/>
            <a:cxnLst/>
            <a:rect l="l" t="t" r="r" b="b"/>
            <a:pathLst>
              <a:path w="17809026" h="8394921">
                <a:moveTo>
                  <a:pt x="0" y="0"/>
                </a:moveTo>
                <a:lnTo>
                  <a:pt x="17809026" y="0"/>
                </a:lnTo>
                <a:lnTo>
                  <a:pt x="17809026" y="8394921"/>
                </a:lnTo>
                <a:lnTo>
                  <a:pt x="0" y="83949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87818" y="483184"/>
            <a:ext cx="15887200"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5 to 8 activities</a:t>
            </a:r>
          </a:p>
        </p:txBody>
      </p:sp>
      <p:sp>
        <p:nvSpPr>
          <p:cNvPr id="5" name="TextBox 5"/>
          <p:cNvSpPr txBox="1"/>
          <p:nvPr/>
        </p:nvSpPr>
        <p:spPr>
          <a:xfrm>
            <a:off x="715366" y="1806142"/>
            <a:ext cx="12549815" cy="8214360"/>
          </a:xfrm>
          <a:prstGeom prst="rect">
            <a:avLst/>
          </a:prstGeom>
        </p:spPr>
        <p:txBody>
          <a:bodyPr lIns="0" tIns="0" rIns="0" bIns="0" rtlCol="0" anchor="t">
            <a:spAutoFit/>
          </a:bodyPr>
          <a:lstStyle/>
          <a:p>
            <a:pPr algn="just">
              <a:lnSpc>
                <a:spcPts val="5040"/>
              </a:lnSpc>
              <a:spcBef>
                <a:spcPct val="0"/>
              </a:spcBef>
            </a:pPr>
            <a:r>
              <a:rPr lang="en-US" sz="3600" b="1">
                <a:solidFill>
                  <a:srgbClr val="000000"/>
                </a:solidFill>
                <a:latin typeface="Calibri (MS) Bold"/>
                <a:ea typeface="Calibri (MS) Bold"/>
                <a:cs typeface="Calibri (MS) Bold"/>
                <a:sym typeface="Calibri (MS) Bold"/>
              </a:rPr>
              <a:t>Core UI &amp; Gesture Integration</a:t>
            </a:r>
          </a:p>
          <a:p>
            <a:pPr algn="just">
              <a:lnSpc>
                <a:spcPts val="5040"/>
              </a:lnSpc>
              <a:spcBef>
                <a:spcPct val="0"/>
              </a:spcBef>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5:</a:t>
            </a:r>
            <a:r>
              <a:rPr lang="en-US" sz="3600">
                <a:solidFill>
                  <a:srgbClr val="000000"/>
                </a:solidFill>
                <a:latin typeface="Calibri (MS)"/>
                <a:ea typeface="Calibri (MS)"/>
                <a:cs typeface="Calibri (MS)"/>
                <a:sym typeface="Calibri (MS)"/>
              </a:rPr>
              <a:t> UI Development (HTML/CSS)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Built base layout, navigation cards &amp; modern CSS UI</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6:</a:t>
            </a:r>
            <a:r>
              <a:rPr lang="en-US" sz="3600">
                <a:solidFill>
                  <a:srgbClr val="000000"/>
                </a:solidFill>
                <a:latin typeface="Calibri (MS)"/>
                <a:ea typeface="Calibri (MS)"/>
                <a:cs typeface="Calibri (MS)"/>
                <a:sym typeface="Calibri (MS)"/>
              </a:rPr>
              <a:t> JavaScript Framework</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Created JS logic for view switching &amp; UI controls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7:</a:t>
            </a:r>
            <a:r>
              <a:rPr lang="en-US" sz="3600">
                <a:solidFill>
                  <a:srgbClr val="000000"/>
                </a:solidFill>
                <a:latin typeface="Calibri (MS)"/>
                <a:ea typeface="Calibri (MS)"/>
                <a:cs typeface="Calibri (MS)"/>
                <a:sym typeface="Calibri (MS)"/>
              </a:rPr>
              <a:t> Gesture Recognition Integration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Integrated MediaPipe Hands &amp; camera feed</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Enabled hand landmark capture</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8:</a:t>
            </a:r>
            <a:r>
              <a:rPr lang="en-US" sz="3600">
                <a:solidFill>
                  <a:srgbClr val="000000"/>
                </a:solidFill>
                <a:latin typeface="Calibri (MS)"/>
                <a:ea typeface="Calibri (MS)"/>
                <a:cs typeface="Calibri (MS)"/>
                <a:sym typeface="Calibri (MS)"/>
              </a:rPr>
              <a:t> Core Gesture Logic</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Implemented pinch-to-click &amp; hover</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Mapped gestures for volume (Thumb Up/Down)</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
        <p:nvSpPr>
          <p:cNvPr id="6" name="TextBox 6"/>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7" name="TextBox 7"/>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198668" y="109542"/>
            <a:ext cx="17890665" cy="10067930"/>
          </a:xfrm>
          <a:custGeom>
            <a:avLst/>
            <a:gdLst/>
            <a:ahLst/>
            <a:cxnLst/>
            <a:rect l="l" t="t" r="r" b="b"/>
            <a:pathLst>
              <a:path w="17890665" h="10067930">
                <a:moveTo>
                  <a:pt x="0" y="0"/>
                </a:moveTo>
                <a:lnTo>
                  <a:pt x="17890664" y="0"/>
                </a:lnTo>
                <a:lnTo>
                  <a:pt x="17890664" y="10067930"/>
                </a:lnTo>
                <a:lnTo>
                  <a:pt x="0" y="10067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1488" y="385215"/>
            <a:ext cx="16276549"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9 to 12 activities</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8</a:t>
            </a:r>
          </a:p>
        </p:txBody>
      </p:sp>
      <p:sp>
        <p:nvSpPr>
          <p:cNvPr id="6" name="TextBox 6"/>
          <p:cNvSpPr txBox="1"/>
          <p:nvPr/>
        </p:nvSpPr>
        <p:spPr>
          <a:xfrm>
            <a:off x="587831" y="1888988"/>
            <a:ext cx="17713771" cy="7585710"/>
          </a:xfrm>
          <a:prstGeom prst="rect">
            <a:avLst/>
          </a:prstGeom>
        </p:spPr>
        <p:txBody>
          <a:bodyPr lIns="0" tIns="0" rIns="0" bIns="0" rtlCol="0" anchor="t">
            <a:spAutoFit/>
          </a:bodyPr>
          <a:lstStyle/>
          <a:p>
            <a:pPr algn="just">
              <a:lnSpc>
                <a:spcPts val="5040"/>
              </a:lnSpc>
              <a:spcBef>
                <a:spcPct val="0"/>
              </a:spcBef>
            </a:pPr>
            <a:r>
              <a:rPr lang="en-US" sz="3600" b="1">
                <a:solidFill>
                  <a:srgbClr val="000000"/>
                </a:solidFill>
                <a:latin typeface="Calibri (MS) Bold"/>
                <a:ea typeface="Calibri (MS) Bold"/>
                <a:cs typeface="Calibri (MS) Bold"/>
                <a:sym typeface="Calibri (MS) Bold"/>
              </a:rPr>
              <a:t>Module Development &amp; Refinement</a:t>
            </a:r>
          </a:p>
          <a:p>
            <a:pPr algn="just">
              <a:lnSpc>
                <a:spcPts val="5040"/>
              </a:lnSpc>
              <a:spcBef>
                <a:spcPct val="0"/>
              </a:spcBef>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9:</a:t>
            </a:r>
            <a:r>
              <a:rPr lang="en-US" sz="3600">
                <a:solidFill>
                  <a:srgbClr val="000000"/>
                </a:solidFill>
                <a:latin typeface="Calibri (MS)"/>
                <a:ea typeface="Calibri (MS)"/>
                <a:cs typeface="Calibri (MS)"/>
                <a:sym typeface="Calibri (MS)"/>
              </a:rPr>
              <a:t> Pointer Stability</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Added crosshair cursor &amp; advanced smoothing (EMA)</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10:</a:t>
            </a:r>
            <a:r>
              <a:rPr lang="en-US" sz="3600">
                <a:solidFill>
                  <a:srgbClr val="000000"/>
                </a:solidFill>
                <a:latin typeface="Calibri (MS)"/>
                <a:ea typeface="Calibri (MS)"/>
                <a:cs typeface="Calibri (MS)"/>
                <a:sym typeface="Calibri (MS)"/>
              </a:rPr>
              <a:t> Music Player Module</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Built audio playback, playlist &amp; gesture controls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11:</a:t>
            </a:r>
            <a:r>
              <a:rPr lang="en-US" sz="3600">
                <a:solidFill>
                  <a:srgbClr val="000000"/>
                </a:solidFill>
                <a:latin typeface="Calibri (MS)"/>
                <a:ea typeface="Calibri (MS)"/>
                <a:cs typeface="Calibri (MS)"/>
                <a:sym typeface="Calibri (MS)"/>
              </a:rPr>
              <a:t> Navigation Module</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Integrated Leaflet.js maps &amp; destination search</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12: </a:t>
            </a:r>
            <a:r>
              <a:rPr lang="en-US" sz="3600">
                <a:solidFill>
                  <a:srgbClr val="000000"/>
                </a:solidFill>
                <a:latin typeface="Calibri (MS)"/>
                <a:ea typeface="Calibri (MS)"/>
                <a:cs typeface="Calibri (MS)"/>
                <a:sym typeface="Calibri (MS)"/>
              </a:rPr>
              <a:t>Calls &amp; Backend Module</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Created PHP/MySQL backend for contacts/songs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Dynamically fetched contacts &amp; simulated calls</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182337" y="109542"/>
            <a:ext cx="17923326" cy="10067930"/>
          </a:xfrm>
          <a:custGeom>
            <a:avLst/>
            <a:gdLst/>
            <a:ahLst/>
            <a:cxnLst/>
            <a:rect l="l" t="t" r="r" b="b"/>
            <a:pathLst>
              <a:path w="17923326" h="10067930">
                <a:moveTo>
                  <a:pt x="0" y="0"/>
                </a:moveTo>
                <a:lnTo>
                  <a:pt x="17923326" y="0"/>
                </a:lnTo>
                <a:lnTo>
                  <a:pt x="17923326" y="10067930"/>
                </a:lnTo>
                <a:lnTo>
                  <a:pt x="0" y="10067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1488" y="548492"/>
            <a:ext cx="16839790"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13 to 15 activities</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9</a:t>
            </a:r>
          </a:p>
        </p:txBody>
      </p:sp>
      <p:sp>
        <p:nvSpPr>
          <p:cNvPr id="6" name="TextBox 6"/>
          <p:cNvSpPr txBox="1"/>
          <p:nvPr/>
        </p:nvSpPr>
        <p:spPr>
          <a:xfrm>
            <a:off x="816431" y="2117588"/>
            <a:ext cx="17713771" cy="7585710"/>
          </a:xfrm>
          <a:prstGeom prst="rect">
            <a:avLst/>
          </a:prstGeom>
        </p:spPr>
        <p:txBody>
          <a:bodyPr lIns="0" tIns="0" rIns="0" bIns="0" rtlCol="0" anchor="t">
            <a:spAutoFit/>
          </a:bodyPr>
          <a:lstStyle/>
          <a:p>
            <a:pPr algn="just">
              <a:lnSpc>
                <a:spcPts val="5040"/>
              </a:lnSpc>
              <a:spcBef>
                <a:spcPct val="0"/>
              </a:spcBef>
            </a:pPr>
            <a:r>
              <a:rPr lang="en-US" sz="3600" b="1">
                <a:solidFill>
                  <a:srgbClr val="000000"/>
                </a:solidFill>
                <a:latin typeface="Calibri (MS) Bold"/>
                <a:ea typeface="Calibri (MS) Bold"/>
                <a:cs typeface="Calibri (MS) Bold"/>
                <a:sym typeface="Calibri (MS) Bold"/>
              </a:rPr>
              <a:t>Final Integration, Testing &amp; Delivery</a:t>
            </a:r>
          </a:p>
          <a:p>
            <a:pPr algn="just">
              <a:lnSpc>
                <a:spcPts val="5040"/>
              </a:lnSpc>
              <a:spcBef>
                <a:spcPct val="0"/>
              </a:spcBef>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13:</a:t>
            </a:r>
            <a:r>
              <a:rPr lang="en-US" sz="3600">
                <a:solidFill>
                  <a:srgbClr val="000000"/>
                </a:solidFill>
                <a:latin typeface="Calibri (MS)"/>
                <a:ea typeface="Calibri (MS)"/>
                <a:cs typeface="Calibri (MS)"/>
                <a:sym typeface="Calibri (MS)"/>
              </a:rPr>
              <a:t> Settings &amp; System Controls: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Completed settings panels (Climate, Brightness).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Unified system controls and finalized all UI panels.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14:</a:t>
            </a:r>
            <a:r>
              <a:rPr lang="en-US" sz="3600">
                <a:solidFill>
                  <a:srgbClr val="000000"/>
                </a:solidFill>
                <a:latin typeface="Calibri (MS)"/>
                <a:ea typeface="Calibri (MS)"/>
                <a:cs typeface="Calibri (MS)"/>
                <a:sym typeface="Calibri (MS)"/>
              </a:rPr>
              <a:t> Backend Integration &amp; Testing:</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Linked frontend to all backend API routes.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Conducted full functional testing and fixed bugs.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15:</a:t>
            </a:r>
            <a:r>
              <a:rPr lang="en-US" sz="3600">
                <a:solidFill>
                  <a:srgbClr val="000000"/>
                </a:solidFill>
                <a:latin typeface="Calibri (MS)"/>
                <a:ea typeface="Calibri (MS)"/>
                <a:cs typeface="Calibri (MS)"/>
                <a:sym typeface="Calibri (MS)"/>
              </a:rPr>
              <a:t> Final Testing &amp; Documentation: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Performed end-to-end testing and performance tuning.</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Prepared final project report and demonstration video.</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538839" y="547683"/>
            <a:ext cx="17406261" cy="1068848"/>
          </a:xfrm>
          <a:custGeom>
            <a:avLst/>
            <a:gdLst/>
            <a:ahLst/>
            <a:cxnLst/>
            <a:rect l="l" t="t" r="r" b="b"/>
            <a:pathLst>
              <a:path w="17406261" h="1068848">
                <a:moveTo>
                  <a:pt x="0" y="0"/>
                </a:moveTo>
                <a:lnTo>
                  <a:pt x="17406261" y="0"/>
                </a:lnTo>
                <a:lnTo>
                  <a:pt x="17406261" y="1068848"/>
                </a:lnTo>
                <a:lnTo>
                  <a:pt x="0" y="10688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40773" y="2536031"/>
            <a:ext cx="7569842" cy="6722269"/>
            <a:chOff x="0" y="0"/>
            <a:chExt cx="1925029" cy="1709489"/>
          </a:xfrm>
        </p:grpSpPr>
        <p:sp>
          <p:nvSpPr>
            <p:cNvPr id="4" name="Freeform 4"/>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5" name="TextBox 5"/>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grpSp>
        <p:nvGrpSpPr>
          <p:cNvPr id="6" name="Group 6"/>
          <p:cNvGrpSpPr/>
          <p:nvPr/>
        </p:nvGrpSpPr>
        <p:grpSpPr>
          <a:xfrm>
            <a:off x="9689458" y="2472945"/>
            <a:ext cx="7569842" cy="6722269"/>
            <a:chOff x="0" y="0"/>
            <a:chExt cx="1925029" cy="1709489"/>
          </a:xfrm>
        </p:grpSpPr>
        <p:sp>
          <p:nvSpPr>
            <p:cNvPr id="7" name="Freeform 7"/>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8" name="TextBox 8"/>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grpSp>
        <p:nvGrpSpPr>
          <p:cNvPr id="9" name="Group 9"/>
          <p:cNvGrpSpPr/>
          <p:nvPr/>
        </p:nvGrpSpPr>
        <p:grpSpPr>
          <a:xfrm>
            <a:off x="1522020" y="3096384"/>
            <a:ext cx="7379895" cy="5212261"/>
            <a:chOff x="93031" y="344308"/>
            <a:chExt cx="9839859" cy="6949682"/>
          </a:xfrm>
        </p:grpSpPr>
        <p:sp>
          <p:nvSpPr>
            <p:cNvPr id="10" name="TextBox 10"/>
            <p:cNvSpPr txBox="1"/>
            <p:nvPr/>
          </p:nvSpPr>
          <p:spPr>
            <a:xfrm>
              <a:off x="154310" y="344308"/>
              <a:ext cx="9778580" cy="6949682"/>
            </a:xfrm>
            <a:prstGeom prst="rect">
              <a:avLst/>
            </a:prstGeom>
          </p:spPr>
          <p:txBody>
            <a:bodyPr lIns="0" tIns="0" rIns="0" bIns="0" rtlCol="0" anchor="t">
              <a:spAutoFit/>
            </a:bodyPr>
            <a:lstStyle/>
            <a:p>
              <a:pPr algn="l">
                <a:lnSpc>
                  <a:spcPts val="3360"/>
                </a:lnSpc>
                <a:spcBef>
                  <a:spcPct val="0"/>
                </a:spcBef>
              </a:pPr>
              <a:r>
                <a:rPr lang="en-US" sz="3200" b="1" dirty="0">
                  <a:solidFill>
                    <a:srgbClr val="000000"/>
                  </a:solidFill>
                  <a:latin typeface="TT Hoves Bold"/>
                  <a:ea typeface="TT Hoves Bold"/>
                  <a:cs typeface="TT Hoves Bold"/>
                  <a:sym typeface="TT Hoves Bold"/>
                </a:rPr>
                <a:t>Dashboard Views</a:t>
              </a:r>
            </a:p>
            <a:p>
              <a:pPr algn="l">
                <a:lnSpc>
                  <a:spcPts val="3360"/>
                </a:lnSpc>
                <a:spcBef>
                  <a:spcPct val="0"/>
                </a:spcBef>
              </a:pPr>
              <a:endParaRPr lang="en-US" sz="2400" b="1" dirty="0">
                <a:solidFill>
                  <a:srgbClr val="000000"/>
                </a:solidFill>
                <a:latin typeface="TT Hoves Bold"/>
                <a:ea typeface="TT Hoves Bold"/>
                <a:cs typeface="TT Hoves Bold"/>
                <a:sym typeface="TT Hoves Bold"/>
              </a:endParaRPr>
            </a:p>
            <a:p>
              <a:pPr algn="l">
                <a:lnSpc>
                  <a:spcPts val="3220"/>
                </a:lnSpc>
                <a:spcBef>
                  <a:spcPct val="0"/>
                </a:spcBef>
              </a:pPr>
              <a:r>
                <a:rPr lang="en-US" sz="2300" b="1" dirty="0">
                  <a:solidFill>
                    <a:srgbClr val="000000"/>
                  </a:solidFill>
                  <a:latin typeface="TT Hoves Bold"/>
                  <a:ea typeface="TT Hoves Bold"/>
                  <a:cs typeface="TT Hoves Bold"/>
                  <a:sym typeface="TT Hoves Bold"/>
                </a:rPr>
                <a:t>     Home</a:t>
              </a:r>
              <a:r>
                <a:rPr lang="en-US" sz="2300" dirty="0">
                  <a:solidFill>
                    <a:srgbClr val="000000"/>
                  </a:solidFill>
                  <a:latin typeface="TT Hoves"/>
                  <a:ea typeface="TT Hoves"/>
                  <a:cs typeface="TT Hoves"/>
                  <a:sym typeface="TT Hoves"/>
                </a:rPr>
                <a:t>: Quick controls &amp; status</a:t>
              </a:r>
            </a:p>
            <a:p>
              <a:pPr algn="l">
                <a:lnSpc>
                  <a:spcPts val="3220"/>
                </a:lnSpc>
                <a:spcBef>
                  <a:spcPct val="0"/>
                </a:spcBef>
              </a:pPr>
              <a:endParaRPr lang="en-US" sz="2300" dirty="0">
                <a:solidFill>
                  <a:srgbClr val="000000"/>
                </a:solidFill>
                <a:latin typeface="TT Hoves"/>
                <a:ea typeface="TT Hoves"/>
                <a:cs typeface="TT Hoves"/>
                <a:sym typeface="TT Hoves"/>
              </a:endParaRPr>
            </a:p>
            <a:p>
              <a:pPr algn="l">
                <a:lnSpc>
                  <a:spcPts val="3220"/>
                </a:lnSpc>
                <a:spcBef>
                  <a:spcPct val="0"/>
                </a:spcBef>
              </a:pPr>
              <a:r>
                <a:rPr lang="en-US" sz="2300" dirty="0">
                  <a:solidFill>
                    <a:srgbClr val="000000"/>
                  </a:solidFill>
                  <a:latin typeface="TT Hoves"/>
                  <a:ea typeface="TT Hoves"/>
                  <a:cs typeface="TT Hoves"/>
                  <a:sym typeface="TT Hoves"/>
                </a:rPr>
                <a:t>      </a:t>
              </a:r>
              <a:r>
                <a:rPr lang="en-US" sz="2300" b="1" dirty="0">
                  <a:solidFill>
                    <a:srgbClr val="000000"/>
                  </a:solidFill>
                  <a:latin typeface="TT Hoves Bold"/>
                  <a:ea typeface="TT Hoves Bold"/>
                  <a:cs typeface="TT Hoves Bold"/>
                  <a:sym typeface="TT Hoves Bold"/>
                </a:rPr>
                <a:t>Music</a:t>
              </a:r>
              <a:r>
                <a:rPr lang="en-US" sz="2300" dirty="0">
                  <a:solidFill>
                    <a:srgbClr val="000000"/>
                  </a:solidFill>
                  <a:latin typeface="TT Hoves"/>
                  <a:ea typeface="TT Hoves"/>
                  <a:cs typeface="TT Hoves"/>
                  <a:sym typeface="TT Hoves"/>
                </a:rPr>
                <a:t>: Player &amp; volume controls</a:t>
              </a:r>
            </a:p>
            <a:p>
              <a:pPr algn="l">
                <a:lnSpc>
                  <a:spcPts val="3220"/>
                </a:lnSpc>
                <a:spcBef>
                  <a:spcPct val="0"/>
                </a:spcBef>
              </a:pPr>
              <a:endParaRPr lang="en-US" sz="2300" dirty="0">
                <a:solidFill>
                  <a:srgbClr val="000000"/>
                </a:solidFill>
                <a:latin typeface="TT Hoves"/>
                <a:ea typeface="TT Hoves"/>
                <a:cs typeface="TT Hoves"/>
                <a:sym typeface="TT Hoves"/>
              </a:endParaRPr>
            </a:p>
            <a:p>
              <a:pPr algn="l">
                <a:lnSpc>
                  <a:spcPts val="3220"/>
                </a:lnSpc>
                <a:spcBef>
                  <a:spcPct val="0"/>
                </a:spcBef>
              </a:pPr>
              <a:r>
                <a:rPr lang="en-US" sz="2300" dirty="0">
                  <a:solidFill>
                    <a:srgbClr val="000000"/>
                  </a:solidFill>
                  <a:latin typeface="TT Hoves"/>
                  <a:ea typeface="TT Hoves"/>
                  <a:cs typeface="TT Hoves"/>
                  <a:sym typeface="TT Hoves"/>
                </a:rPr>
                <a:t>      </a:t>
              </a:r>
              <a:r>
                <a:rPr lang="en-US" sz="2300" b="1" dirty="0">
                  <a:solidFill>
                    <a:srgbClr val="000000"/>
                  </a:solidFill>
                  <a:latin typeface="TT Hoves Bold"/>
                  <a:ea typeface="TT Hoves Bold"/>
                  <a:cs typeface="TT Hoves Bold"/>
                  <a:sym typeface="TT Hoves Bold"/>
                </a:rPr>
                <a:t>Navigation</a:t>
              </a:r>
              <a:r>
                <a:rPr lang="en-US" sz="2300" dirty="0">
                  <a:solidFill>
                    <a:srgbClr val="000000"/>
                  </a:solidFill>
                  <a:latin typeface="TT Hoves"/>
                  <a:ea typeface="TT Hoves"/>
                  <a:cs typeface="TT Hoves"/>
                  <a:sym typeface="TT Hoves"/>
                </a:rPr>
                <a:t>: Map interface</a:t>
              </a:r>
            </a:p>
            <a:p>
              <a:pPr algn="l">
                <a:lnSpc>
                  <a:spcPts val="3220"/>
                </a:lnSpc>
                <a:spcBef>
                  <a:spcPct val="0"/>
                </a:spcBef>
              </a:pPr>
              <a:endParaRPr lang="en-US" sz="2300" dirty="0">
                <a:solidFill>
                  <a:srgbClr val="000000"/>
                </a:solidFill>
                <a:latin typeface="TT Hoves"/>
                <a:ea typeface="TT Hoves"/>
                <a:cs typeface="TT Hoves"/>
                <a:sym typeface="TT Hoves"/>
              </a:endParaRPr>
            </a:p>
            <a:p>
              <a:pPr algn="l">
                <a:lnSpc>
                  <a:spcPts val="3220"/>
                </a:lnSpc>
                <a:spcBef>
                  <a:spcPct val="0"/>
                </a:spcBef>
              </a:pPr>
              <a:r>
                <a:rPr lang="en-US" sz="2300" dirty="0">
                  <a:solidFill>
                    <a:srgbClr val="000000"/>
                  </a:solidFill>
                  <a:latin typeface="TT Hoves"/>
                  <a:ea typeface="TT Hoves"/>
                  <a:cs typeface="TT Hoves"/>
                  <a:sym typeface="TT Hoves"/>
                </a:rPr>
                <a:t>      </a:t>
              </a:r>
              <a:r>
                <a:rPr lang="en-US" sz="2300" b="1" dirty="0">
                  <a:solidFill>
                    <a:srgbClr val="000000"/>
                  </a:solidFill>
                  <a:latin typeface="TT Hoves Bold"/>
                  <a:ea typeface="TT Hoves Bold"/>
                  <a:cs typeface="TT Hoves Bold"/>
                  <a:sym typeface="TT Hoves Bold"/>
                </a:rPr>
                <a:t>Calls</a:t>
              </a:r>
              <a:r>
                <a:rPr lang="en-US" sz="2300" dirty="0">
                  <a:solidFill>
                    <a:srgbClr val="000000"/>
                  </a:solidFill>
                  <a:latin typeface="TT Hoves"/>
                  <a:ea typeface="TT Hoves"/>
                  <a:cs typeface="TT Hoves"/>
                  <a:sym typeface="TT Hoves"/>
                </a:rPr>
                <a:t>: Answer / decline functions</a:t>
              </a:r>
            </a:p>
            <a:p>
              <a:pPr algn="l">
                <a:lnSpc>
                  <a:spcPts val="3220"/>
                </a:lnSpc>
                <a:spcBef>
                  <a:spcPct val="0"/>
                </a:spcBef>
              </a:pPr>
              <a:r>
                <a:rPr lang="en-US" sz="2300" dirty="0">
                  <a:solidFill>
                    <a:srgbClr val="000000"/>
                  </a:solidFill>
                  <a:latin typeface="TT Hoves"/>
                  <a:ea typeface="TT Hoves"/>
                  <a:cs typeface="TT Hoves"/>
                  <a:sym typeface="TT Hoves"/>
                </a:rPr>
                <a:t>                                                                   </a:t>
              </a:r>
            </a:p>
            <a:p>
              <a:pPr>
                <a:lnSpc>
                  <a:spcPts val="3220"/>
                </a:lnSpc>
                <a:spcBef>
                  <a:spcPct val="0"/>
                </a:spcBef>
              </a:pPr>
              <a:r>
                <a:rPr lang="en-US" sz="2300" dirty="0">
                  <a:solidFill>
                    <a:srgbClr val="000000"/>
                  </a:solidFill>
                  <a:latin typeface="TT Hoves"/>
                  <a:ea typeface="TT Hoves"/>
                  <a:cs typeface="TT Hoves"/>
                  <a:sym typeface="TT Hoves"/>
                </a:rPr>
                <a:t>      </a:t>
              </a:r>
              <a:r>
                <a:rPr lang="en-US" sz="2300" b="1" dirty="0">
                  <a:solidFill>
                    <a:srgbClr val="000000"/>
                  </a:solidFill>
                  <a:latin typeface="TT Hoves Bold"/>
                  <a:ea typeface="TT Hoves Bold"/>
                  <a:cs typeface="TT Hoves Bold"/>
                  <a:sym typeface="TT Hoves Bold"/>
                </a:rPr>
                <a:t>Settings</a:t>
              </a:r>
              <a:r>
                <a:rPr lang="en-US" sz="2300" dirty="0">
                  <a:solidFill>
                    <a:srgbClr val="000000"/>
                  </a:solidFill>
                  <a:latin typeface="TT Hoves"/>
                  <a:ea typeface="TT Hoves"/>
                  <a:cs typeface="TT Hoves"/>
                  <a:sym typeface="TT Hoves"/>
                </a:rPr>
                <a:t>: Brightness &amp; AC adjustment</a:t>
              </a:r>
            </a:p>
            <a:p>
              <a:pPr algn="l">
                <a:lnSpc>
                  <a:spcPts val="3220"/>
                </a:lnSpc>
                <a:spcBef>
                  <a:spcPct val="0"/>
                </a:spcBef>
              </a:pPr>
              <a:r>
                <a:rPr lang="en-US" sz="2300" dirty="0">
                  <a:solidFill>
                    <a:srgbClr val="000000"/>
                  </a:solidFill>
                  <a:latin typeface="TT Hoves"/>
                  <a:ea typeface="TT Hoves"/>
                  <a:cs typeface="TT Hoves"/>
                  <a:sym typeface="TT Hoves"/>
                </a:rPr>
                <a:t>                        </a:t>
              </a:r>
            </a:p>
            <a:p>
              <a:pPr algn="l">
                <a:lnSpc>
                  <a:spcPts val="1739"/>
                </a:lnSpc>
                <a:spcBef>
                  <a:spcPct val="0"/>
                </a:spcBef>
              </a:pPr>
              <a:endParaRPr lang="en-US" sz="2300" dirty="0">
                <a:solidFill>
                  <a:srgbClr val="000000"/>
                </a:solidFill>
                <a:latin typeface="TT Hoves"/>
                <a:ea typeface="TT Hoves"/>
                <a:cs typeface="TT Hoves"/>
                <a:sym typeface="TT Hoves"/>
              </a:endParaRPr>
            </a:p>
          </p:txBody>
        </p:sp>
        <p:sp>
          <p:nvSpPr>
            <p:cNvPr id="11" name="Freeform 11"/>
            <p:cNvSpPr/>
            <p:nvPr/>
          </p:nvSpPr>
          <p:spPr>
            <a:xfrm>
              <a:off x="93031" y="1660605"/>
              <a:ext cx="342367" cy="318711"/>
            </a:xfrm>
            <a:custGeom>
              <a:avLst/>
              <a:gdLst/>
              <a:ahLst/>
              <a:cxnLst/>
              <a:rect l="l" t="t" r="r" b="b"/>
              <a:pathLst>
                <a:path w="342366" h="318711">
                  <a:moveTo>
                    <a:pt x="0" y="0"/>
                  </a:moveTo>
                  <a:lnTo>
                    <a:pt x="342366" y="0"/>
                  </a:lnTo>
                  <a:lnTo>
                    <a:pt x="342366" y="318712"/>
                  </a:lnTo>
                  <a:lnTo>
                    <a:pt x="0" y="3187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23675" y="2662374"/>
              <a:ext cx="232015" cy="358731"/>
            </a:xfrm>
            <a:custGeom>
              <a:avLst/>
              <a:gdLst/>
              <a:ahLst/>
              <a:cxnLst/>
              <a:rect l="l" t="t" r="r" b="b"/>
              <a:pathLst>
                <a:path w="232014" h="358730">
                  <a:moveTo>
                    <a:pt x="0" y="0"/>
                  </a:moveTo>
                  <a:lnTo>
                    <a:pt x="232014" y="0"/>
                  </a:lnTo>
                  <a:lnTo>
                    <a:pt x="232014" y="358730"/>
                  </a:lnTo>
                  <a:lnTo>
                    <a:pt x="0" y="3587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93031" y="3799787"/>
              <a:ext cx="293305" cy="376033"/>
            </a:xfrm>
            <a:custGeom>
              <a:avLst/>
              <a:gdLst/>
              <a:ahLst/>
              <a:cxnLst/>
              <a:rect l="l" t="t" r="r" b="b"/>
              <a:pathLst>
                <a:path w="293305" h="376033">
                  <a:moveTo>
                    <a:pt x="0" y="0"/>
                  </a:moveTo>
                  <a:lnTo>
                    <a:pt x="293306" y="0"/>
                  </a:lnTo>
                  <a:lnTo>
                    <a:pt x="293306" y="376033"/>
                  </a:lnTo>
                  <a:lnTo>
                    <a:pt x="0" y="3760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4" name="Freeform 14"/>
            <p:cNvSpPr/>
            <p:nvPr/>
          </p:nvSpPr>
          <p:spPr>
            <a:xfrm>
              <a:off x="93031" y="4850226"/>
              <a:ext cx="317835" cy="318995"/>
            </a:xfrm>
            <a:custGeom>
              <a:avLst/>
              <a:gdLst/>
              <a:ahLst/>
              <a:cxnLst/>
              <a:rect l="l" t="t" r="r" b="b"/>
              <a:pathLst>
                <a:path w="317835" h="318995">
                  <a:moveTo>
                    <a:pt x="0" y="0"/>
                  </a:moveTo>
                  <a:lnTo>
                    <a:pt x="317836" y="0"/>
                  </a:lnTo>
                  <a:lnTo>
                    <a:pt x="317836" y="318995"/>
                  </a:lnTo>
                  <a:lnTo>
                    <a:pt x="0" y="31899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
          <p:nvSpPr>
            <p:cNvPr id="15" name="Freeform 15"/>
            <p:cNvSpPr/>
            <p:nvPr/>
          </p:nvSpPr>
          <p:spPr>
            <a:xfrm>
              <a:off x="146003" y="5996291"/>
              <a:ext cx="337960" cy="337960"/>
            </a:xfrm>
            <a:custGeom>
              <a:avLst/>
              <a:gdLst/>
              <a:ahLst/>
              <a:cxnLst/>
              <a:rect l="l" t="t" r="r" b="b"/>
              <a:pathLst>
                <a:path w="337960" h="337960">
                  <a:moveTo>
                    <a:pt x="0" y="0"/>
                  </a:moveTo>
                  <a:lnTo>
                    <a:pt x="337960" y="0"/>
                  </a:lnTo>
                  <a:lnTo>
                    <a:pt x="337960" y="337960"/>
                  </a:lnTo>
                  <a:lnTo>
                    <a:pt x="0" y="33796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grpSp>
        <p:nvGrpSpPr>
          <p:cNvPr id="16" name="Group 16"/>
          <p:cNvGrpSpPr/>
          <p:nvPr/>
        </p:nvGrpSpPr>
        <p:grpSpPr>
          <a:xfrm>
            <a:off x="9882113" y="2931653"/>
            <a:ext cx="7206518" cy="5899628"/>
            <a:chOff x="0" y="-76200"/>
            <a:chExt cx="9608690" cy="7866171"/>
          </a:xfrm>
        </p:grpSpPr>
        <p:sp>
          <p:nvSpPr>
            <p:cNvPr id="17" name="Freeform 17"/>
            <p:cNvSpPr/>
            <p:nvPr/>
          </p:nvSpPr>
          <p:spPr>
            <a:xfrm>
              <a:off x="0" y="974739"/>
              <a:ext cx="688542" cy="344271"/>
            </a:xfrm>
            <a:custGeom>
              <a:avLst/>
              <a:gdLst/>
              <a:ahLst/>
              <a:cxnLst/>
              <a:rect l="l" t="t" r="r" b="b"/>
              <a:pathLst>
                <a:path w="688542" h="344271">
                  <a:moveTo>
                    <a:pt x="0" y="0"/>
                  </a:moveTo>
                  <a:lnTo>
                    <a:pt x="688542" y="0"/>
                  </a:lnTo>
                  <a:lnTo>
                    <a:pt x="688542" y="344271"/>
                  </a:lnTo>
                  <a:lnTo>
                    <a:pt x="0" y="34427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8" name="TextBox 18"/>
            <p:cNvSpPr txBox="1"/>
            <p:nvPr/>
          </p:nvSpPr>
          <p:spPr>
            <a:xfrm>
              <a:off x="137155" y="-76200"/>
              <a:ext cx="9471535" cy="7866171"/>
            </a:xfrm>
            <a:prstGeom prst="rect">
              <a:avLst/>
            </a:prstGeom>
          </p:spPr>
          <p:txBody>
            <a:bodyPr lIns="0" tIns="0" rIns="0" bIns="0" rtlCol="0" anchor="t">
              <a:spAutoFit/>
            </a:bodyPr>
            <a:lstStyle/>
            <a:p>
              <a:pPr algn="l">
                <a:lnSpc>
                  <a:spcPts val="4830"/>
                </a:lnSpc>
                <a:spcBef>
                  <a:spcPct val="0"/>
                </a:spcBef>
              </a:pPr>
              <a:r>
                <a:rPr lang="en-US" sz="3450" b="1" dirty="0">
                  <a:solidFill>
                    <a:srgbClr val="000000"/>
                  </a:solidFill>
                  <a:latin typeface="TT Hoves Bold"/>
                  <a:ea typeface="TT Hoves Bold"/>
                  <a:cs typeface="TT Hoves Bold"/>
                  <a:sym typeface="TT Hoves Bold"/>
                </a:rPr>
                <a:t>Interaction &amp; Principles</a:t>
              </a:r>
            </a:p>
            <a:p>
              <a:pPr algn="l">
                <a:lnSpc>
                  <a:spcPts val="4830"/>
                </a:lnSpc>
                <a:spcBef>
                  <a:spcPct val="0"/>
                </a:spcBef>
              </a:pPr>
              <a:r>
                <a:rPr lang="en-US" sz="345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Interaction: </a:t>
              </a:r>
              <a:r>
                <a:rPr lang="en-US" sz="2800" dirty="0">
                  <a:solidFill>
                    <a:srgbClr val="000000"/>
                  </a:solidFill>
                  <a:latin typeface="TT Hoves"/>
                  <a:ea typeface="TT Hoves"/>
                  <a:cs typeface="TT Hoves"/>
                  <a:sym typeface="TT Hoves"/>
                </a:rPr>
                <a:t>Cards, sliders, &amp; </a:t>
              </a:r>
            </a:p>
            <a:p>
              <a:pPr algn="l">
                <a:lnSpc>
                  <a:spcPts val="4830"/>
                </a:lnSpc>
                <a:spcBef>
                  <a:spcPct val="0"/>
                </a:spcBef>
              </a:pPr>
              <a:r>
                <a:rPr lang="en-US" sz="2800" dirty="0">
                  <a:solidFill>
                    <a:srgbClr val="000000"/>
                  </a:solidFill>
                  <a:latin typeface="TT Hoves"/>
                  <a:ea typeface="TT Hoves"/>
                  <a:cs typeface="TT Hoves"/>
                  <a:sym typeface="TT Hoves"/>
                </a:rPr>
                <a:t>                               buttons</a:t>
              </a:r>
            </a:p>
            <a:p>
              <a:pPr algn="l">
                <a:lnSpc>
                  <a:spcPts val="483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Minimalism: </a:t>
              </a:r>
              <a:r>
                <a:rPr lang="en-US" sz="2800" dirty="0">
                  <a:solidFill>
                    <a:srgbClr val="000000"/>
                  </a:solidFill>
                  <a:latin typeface="TT Hoves"/>
                  <a:ea typeface="TT Hoves"/>
                  <a:cs typeface="TT Hoves"/>
                  <a:sym typeface="TT Hoves"/>
                </a:rPr>
                <a:t>Clean, focused </a:t>
              </a:r>
            </a:p>
            <a:p>
              <a:pPr algn="l">
                <a:lnSpc>
                  <a:spcPts val="4830"/>
                </a:lnSpc>
                <a:spcBef>
                  <a:spcPct val="0"/>
                </a:spcBef>
              </a:pPr>
              <a:r>
                <a:rPr lang="en-US" sz="2800" dirty="0">
                  <a:solidFill>
                    <a:srgbClr val="000000"/>
                  </a:solidFill>
                  <a:latin typeface="TT Hoves"/>
                  <a:ea typeface="TT Hoves"/>
                  <a:cs typeface="TT Hoves"/>
                  <a:sym typeface="TT Hoves"/>
                </a:rPr>
                <a:t>                                interface</a:t>
              </a:r>
            </a:p>
            <a:p>
              <a:pPr algn="l">
                <a:lnSpc>
                  <a:spcPts val="483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Accessibility: </a:t>
              </a:r>
              <a:r>
                <a:rPr lang="en-US" sz="2800" dirty="0">
                  <a:solidFill>
                    <a:srgbClr val="000000"/>
                  </a:solidFill>
                  <a:latin typeface="TT Hoves"/>
                  <a:ea typeface="TT Hoves"/>
                  <a:cs typeface="TT Hoves"/>
                  <a:sym typeface="TT Hoves"/>
                </a:rPr>
                <a:t>Simple &amp; easy to </a:t>
              </a:r>
            </a:p>
            <a:p>
              <a:pPr algn="l">
                <a:lnSpc>
                  <a:spcPts val="4830"/>
                </a:lnSpc>
                <a:spcBef>
                  <a:spcPct val="0"/>
                </a:spcBef>
              </a:pPr>
              <a:r>
                <a:rPr lang="en-US" sz="2800" dirty="0">
                  <a:solidFill>
                    <a:srgbClr val="000000"/>
                  </a:solidFill>
                  <a:latin typeface="TT Hoves"/>
                  <a:ea typeface="TT Hoves"/>
                  <a:cs typeface="TT Hoves"/>
                  <a:sym typeface="TT Hoves"/>
                </a:rPr>
                <a:t>                                   use</a:t>
              </a:r>
            </a:p>
            <a:p>
              <a:pPr algn="l">
                <a:lnSpc>
                  <a:spcPts val="483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Safety: </a:t>
              </a:r>
              <a:r>
                <a:rPr lang="en-US" sz="2800" dirty="0">
                  <a:solidFill>
                    <a:srgbClr val="000000"/>
                  </a:solidFill>
                  <a:latin typeface="TT Hoves"/>
                  <a:ea typeface="TT Hoves"/>
                  <a:cs typeface="TT Hoves"/>
                  <a:sym typeface="TT Hoves"/>
                </a:rPr>
                <a:t>Designed for driving </a:t>
              </a:r>
            </a:p>
            <a:p>
              <a:pPr algn="l">
                <a:lnSpc>
                  <a:spcPts val="4830"/>
                </a:lnSpc>
                <a:spcBef>
                  <a:spcPct val="0"/>
                </a:spcBef>
              </a:pPr>
              <a:r>
                <a:rPr lang="en-US" sz="2800" dirty="0">
                  <a:solidFill>
                    <a:srgbClr val="000000"/>
                  </a:solidFill>
                  <a:latin typeface="TT Hoves"/>
                  <a:ea typeface="TT Hoves"/>
                  <a:cs typeface="TT Hoves"/>
                  <a:sym typeface="TT Hoves"/>
                </a:rPr>
                <a:t>                     focus</a:t>
              </a:r>
            </a:p>
            <a:p>
              <a:pPr algn="l">
                <a:lnSpc>
                  <a:spcPts val="2609"/>
                </a:lnSpc>
                <a:spcBef>
                  <a:spcPct val="0"/>
                </a:spcBef>
              </a:pPr>
              <a:endParaRPr lang="en-US" sz="3450" dirty="0">
                <a:solidFill>
                  <a:srgbClr val="000000"/>
                </a:solidFill>
                <a:latin typeface="TT Hoves"/>
                <a:ea typeface="TT Hoves"/>
                <a:cs typeface="TT Hoves"/>
                <a:sym typeface="TT Hoves"/>
              </a:endParaRPr>
            </a:p>
          </p:txBody>
        </p:sp>
        <p:sp>
          <p:nvSpPr>
            <p:cNvPr id="19" name="Freeform 19"/>
            <p:cNvSpPr/>
            <p:nvPr/>
          </p:nvSpPr>
          <p:spPr>
            <a:xfrm>
              <a:off x="80893" y="2534167"/>
              <a:ext cx="526756" cy="526756"/>
            </a:xfrm>
            <a:custGeom>
              <a:avLst/>
              <a:gdLst/>
              <a:ahLst/>
              <a:cxnLst/>
              <a:rect l="l" t="t" r="r" b="b"/>
              <a:pathLst>
                <a:path w="526756" h="526756">
                  <a:moveTo>
                    <a:pt x="0" y="0"/>
                  </a:moveTo>
                  <a:lnTo>
                    <a:pt x="526756" y="0"/>
                  </a:lnTo>
                  <a:lnTo>
                    <a:pt x="526756" y="526756"/>
                  </a:lnTo>
                  <a:lnTo>
                    <a:pt x="0" y="52675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0" name="Freeform 20"/>
            <p:cNvSpPr/>
            <p:nvPr/>
          </p:nvSpPr>
          <p:spPr>
            <a:xfrm>
              <a:off x="80893" y="4073266"/>
              <a:ext cx="553336" cy="502924"/>
            </a:xfrm>
            <a:custGeom>
              <a:avLst/>
              <a:gdLst/>
              <a:ahLst/>
              <a:cxnLst/>
              <a:rect l="l" t="t" r="r" b="b"/>
              <a:pathLst>
                <a:path w="553336" h="502924">
                  <a:moveTo>
                    <a:pt x="0" y="0"/>
                  </a:moveTo>
                  <a:lnTo>
                    <a:pt x="553336" y="0"/>
                  </a:lnTo>
                  <a:lnTo>
                    <a:pt x="553336" y="502924"/>
                  </a:lnTo>
                  <a:lnTo>
                    <a:pt x="0" y="50292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1" name="Freeform 21"/>
            <p:cNvSpPr/>
            <p:nvPr/>
          </p:nvSpPr>
          <p:spPr>
            <a:xfrm>
              <a:off x="216993" y="5703037"/>
              <a:ext cx="417236" cy="522733"/>
            </a:xfrm>
            <a:custGeom>
              <a:avLst/>
              <a:gdLst/>
              <a:ahLst/>
              <a:cxnLst/>
              <a:rect l="l" t="t" r="r" b="b"/>
              <a:pathLst>
                <a:path w="417236" h="522733">
                  <a:moveTo>
                    <a:pt x="0" y="0"/>
                  </a:moveTo>
                  <a:lnTo>
                    <a:pt x="417236" y="0"/>
                  </a:lnTo>
                  <a:lnTo>
                    <a:pt x="417236" y="522733"/>
                  </a:lnTo>
                  <a:lnTo>
                    <a:pt x="0" y="52273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sp>
        <p:nvSpPr>
          <p:cNvPr id="22" name="TextBox 22"/>
          <p:cNvSpPr txBox="1"/>
          <p:nvPr/>
        </p:nvSpPr>
        <p:spPr>
          <a:xfrm>
            <a:off x="1040773" y="583337"/>
            <a:ext cx="6075374" cy="123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Design document</a:t>
            </a:r>
          </a:p>
        </p:txBody>
      </p:sp>
      <p:sp>
        <p:nvSpPr>
          <p:cNvPr id="23" name="TextBox 23"/>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24" name="TextBox 24"/>
          <p:cNvSpPr txBox="1"/>
          <p:nvPr/>
        </p:nvSpPr>
        <p:spPr>
          <a:xfrm>
            <a:off x="16786255" y="9638900"/>
            <a:ext cx="302374"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75561" y="547683"/>
            <a:ext cx="17667508" cy="840248"/>
          </a:xfrm>
          <a:custGeom>
            <a:avLst/>
            <a:gdLst/>
            <a:ahLst/>
            <a:cxnLst/>
            <a:rect l="l" t="t" r="r" b="b"/>
            <a:pathLst>
              <a:path w="17667508" h="840248">
                <a:moveTo>
                  <a:pt x="0" y="0"/>
                </a:moveTo>
                <a:lnTo>
                  <a:pt x="17667508" y="0"/>
                </a:lnTo>
                <a:lnTo>
                  <a:pt x="17667508" y="840248"/>
                </a:lnTo>
                <a:lnTo>
                  <a:pt x="0" y="840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80306" y="1733545"/>
            <a:ext cx="17858018" cy="8443912"/>
          </a:xfrm>
          <a:custGeom>
            <a:avLst/>
            <a:gdLst/>
            <a:ahLst/>
            <a:cxnLst/>
            <a:rect l="l" t="t" r="r" b="b"/>
            <a:pathLst>
              <a:path w="17858018" h="8443912">
                <a:moveTo>
                  <a:pt x="0" y="0"/>
                </a:moveTo>
                <a:lnTo>
                  <a:pt x="17858018" y="0"/>
                </a:lnTo>
                <a:lnTo>
                  <a:pt x="17858018" y="8443913"/>
                </a:lnTo>
                <a:lnTo>
                  <a:pt x="0" y="84439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58991"/>
            <a:ext cx="7277624" cy="1139762"/>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Implementation details</a:t>
            </a:r>
          </a:p>
        </p:txBody>
      </p:sp>
      <p:sp>
        <p:nvSpPr>
          <p:cNvPr id="5" name="TextBox 5"/>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6" name="TextBox 6"/>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11</a:t>
            </a:r>
          </a:p>
        </p:txBody>
      </p:sp>
      <p:sp>
        <p:nvSpPr>
          <p:cNvPr id="7" name="TextBox 7"/>
          <p:cNvSpPr txBox="1"/>
          <p:nvPr/>
        </p:nvSpPr>
        <p:spPr>
          <a:xfrm>
            <a:off x="1273959" y="1055877"/>
            <a:ext cx="12868951" cy="9056370"/>
          </a:xfrm>
          <a:prstGeom prst="rect">
            <a:avLst/>
          </a:prstGeom>
        </p:spPr>
        <p:txBody>
          <a:bodyPr lIns="0" tIns="0" rIns="0" bIns="0" rtlCol="0" anchor="t">
            <a:spAutoFit/>
          </a:bodyPr>
          <a:lstStyle/>
          <a:p>
            <a:pPr algn="just">
              <a:lnSpc>
                <a:spcPts val="4830"/>
              </a:lnSpc>
            </a:pPr>
            <a:r>
              <a:rPr lang="en-US" sz="3450" b="1">
                <a:solidFill>
                  <a:srgbClr val="000000"/>
                </a:solidFill>
                <a:latin typeface="Calibri (MS) Bold"/>
                <a:ea typeface="Calibri (MS) Bold"/>
                <a:cs typeface="Calibri (MS) Bold"/>
                <a:sym typeface="Calibri (MS) Bold"/>
              </a:rPr>
              <a:t>Stack &amp; Architecture</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3-Tier Model: HTML/CSS/JS → PHP → MySQL</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Pattern: MVC</a:t>
            </a:r>
          </a:p>
          <a:p>
            <a:pPr algn="just">
              <a:lnSpc>
                <a:spcPts val="4830"/>
              </a:lnSpc>
            </a:pPr>
            <a:r>
              <a:rPr lang="en-US" sz="3450" b="1">
                <a:solidFill>
                  <a:srgbClr val="000000"/>
                </a:solidFill>
                <a:latin typeface="Calibri (MS) Bold"/>
                <a:ea typeface="Calibri (MS) Bold"/>
                <a:cs typeface="Calibri (MS) Bold"/>
                <a:sym typeface="Calibri (MS) Bold"/>
              </a:rPr>
              <a:t>Gesture Engine</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Core: MediaPipe Hands API</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Input: Real-time landmark detection (Pinch, Thumb, Fist)</a:t>
            </a:r>
          </a:p>
          <a:p>
            <a:pPr algn="just">
              <a:lnSpc>
                <a:spcPts val="4830"/>
              </a:lnSpc>
            </a:pPr>
            <a:r>
              <a:rPr lang="en-US" sz="3450" b="1">
                <a:solidFill>
                  <a:srgbClr val="000000"/>
                </a:solidFill>
                <a:latin typeface="Calibri (MS) Bold"/>
                <a:ea typeface="Calibri (MS) Bold"/>
                <a:cs typeface="Calibri (MS) Bold"/>
                <a:sym typeface="Calibri (MS) Bold"/>
              </a:rPr>
              <a:t>Core Modules (Gesture-Controlled)</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Music Player</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Navigation (Leaflet.js &amp; OpenStreetMap)</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Calls (Simulated)</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System Settings (AC, Brightness)</a:t>
            </a:r>
          </a:p>
          <a:p>
            <a:pPr algn="just">
              <a:lnSpc>
                <a:spcPts val="4830"/>
              </a:lnSpc>
            </a:pPr>
            <a:r>
              <a:rPr lang="en-US" sz="3450" b="1">
                <a:solidFill>
                  <a:srgbClr val="000000"/>
                </a:solidFill>
                <a:latin typeface="Calibri (MS) Bold"/>
                <a:ea typeface="Calibri (MS) Bold"/>
                <a:cs typeface="Calibri (MS) Bold"/>
                <a:sym typeface="Calibri (MS) Bold"/>
              </a:rPr>
              <a:t>Backend &amp; UI</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API: PHP scripts manage MySQL data (songs, contacts)</a:t>
            </a:r>
          </a:p>
          <a:p>
            <a:pPr marL="744856" lvl="1" indent="-372428" algn="just">
              <a:lnSpc>
                <a:spcPts val="4830"/>
              </a:lnSpc>
              <a:buFont typeface="Arial"/>
              <a:buChar char="•"/>
            </a:pPr>
            <a:r>
              <a:rPr lang="en-US" sz="3450">
                <a:solidFill>
                  <a:srgbClr val="000000"/>
                </a:solidFill>
                <a:latin typeface="Calibri (MS)"/>
                <a:ea typeface="Calibri (MS)"/>
                <a:cs typeface="Calibri (MS)"/>
                <a:sym typeface="Calibri (MS)"/>
              </a:rPr>
              <a:t>UI: EMA smoothing for stable pointer + crosshair feedback</a:t>
            </a:r>
          </a:p>
          <a:p>
            <a:pPr algn="just">
              <a:lnSpc>
                <a:spcPts val="4830"/>
              </a:lnSpc>
            </a:pPr>
            <a:endParaRPr lang="en-US" sz="3450">
              <a:solidFill>
                <a:srgbClr val="000000"/>
              </a:solidFill>
              <a:latin typeface="Calibri (MS)"/>
              <a:ea typeface="Calibri (MS)"/>
              <a:cs typeface="Calibri (MS)"/>
              <a:sym typeface="Calibri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75561" y="489861"/>
            <a:ext cx="17667508" cy="914400"/>
          </a:xfrm>
          <a:custGeom>
            <a:avLst/>
            <a:gdLst/>
            <a:ahLst/>
            <a:cxnLst/>
            <a:rect l="l" t="t" r="r" b="b"/>
            <a:pathLst>
              <a:path w="17667508" h="914400">
                <a:moveTo>
                  <a:pt x="0" y="0"/>
                </a:moveTo>
                <a:lnTo>
                  <a:pt x="17667508" y="0"/>
                </a:lnTo>
                <a:lnTo>
                  <a:pt x="17667508" y="914400"/>
                </a:lnTo>
                <a:lnTo>
                  <a:pt x="0" y="914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045888"/>
            <a:ext cx="17858018" cy="8476574"/>
          </a:xfrm>
          <a:custGeom>
            <a:avLst/>
            <a:gdLst/>
            <a:ahLst/>
            <a:cxnLst/>
            <a:rect l="l" t="t" r="r" b="b"/>
            <a:pathLst>
              <a:path w="17858018" h="8476574">
                <a:moveTo>
                  <a:pt x="0" y="0"/>
                </a:moveTo>
                <a:lnTo>
                  <a:pt x="17858018" y="0"/>
                </a:lnTo>
                <a:lnTo>
                  <a:pt x="17858018" y="8476574"/>
                </a:lnTo>
                <a:lnTo>
                  <a:pt x="0" y="84765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75561" y="1404261"/>
            <a:ext cx="8660085" cy="3907224"/>
          </a:xfrm>
          <a:custGeom>
            <a:avLst/>
            <a:gdLst/>
            <a:ahLst/>
            <a:cxnLst/>
            <a:rect l="l" t="t" r="r" b="b"/>
            <a:pathLst>
              <a:path w="8660085" h="3907224">
                <a:moveTo>
                  <a:pt x="0" y="0"/>
                </a:moveTo>
                <a:lnTo>
                  <a:pt x="8660085" y="0"/>
                </a:lnTo>
                <a:lnTo>
                  <a:pt x="8660085" y="3907224"/>
                </a:lnTo>
                <a:lnTo>
                  <a:pt x="0" y="3907224"/>
                </a:lnTo>
                <a:lnTo>
                  <a:pt x="0" y="0"/>
                </a:lnTo>
                <a:close/>
              </a:path>
            </a:pathLst>
          </a:custGeom>
          <a:blipFill>
            <a:blip r:embed="rId6"/>
            <a:stretch>
              <a:fillRect b="-10267"/>
            </a:stretch>
          </a:blipFill>
        </p:spPr>
      </p:sp>
      <p:sp>
        <p:nvSpPr>
          <p:cNvPr id="5" name="Freeform 5"/>
          <p:cNvSpPr/>
          <p:nvPr/>
        </p:nvSpPr>
        <p:spPr>
          <a:xfrm>
            <a:off x="9209315" y="1404261"/>
            <a:ext cx="8660085" cy="3907224"/>
          </a:xfrm>
          <a:custGeom>
            <a:avLst/>
            <a:gdLst/>
            <a:ahLst/>
            <a:cxnLst/>
            <a:rect l="l" t="t" r="r" b="b"/>
            <a:pathLst>
              <a:path w="8660085" h="3907224">
                <a:moveTo>
                  <a:pt x="0" y="0"/>
                </a:moveTo>
                <a:lnTo>
                  <a:pt x="8660085" y="0"/>
                </a:lnTo>
                <a:lnTo>
                  <a:pt x="8660085" y="3907224"/>
                </a:lnTo>
                <a:lnTo>
                  <a:pt x="0" y="3907224"/>
                </a:lnTo>
                <a:lnTo>
                  <a:pt x="0" y="0"/>
                </a:lnTo>
                <a:close/>
              </a:path>
            </a:pathLst>
          </a:custGeom>
          <a:blipFill>
            <a:blip r:embed="rId7"/>
            <a:stretch>
              <a:fillRect r="-4010" b="-8062"/>
            </a:stretch>
          </a:blipFill>
        </p:spPr>
      </p:sp>
      <p:sp>
        <p:nvSpPr>
          <p:cNvPr id="6" name="Freeform 6"/>
          <p:cNvSpPr/>
          <p:nvPr/>
        </p:nvSpPr>
        <p:spPr>
          <a:xfrm>
            <a:off x="375561" y="5615397"/>
            <a:ext cx="8660085" cy="3795792"/>
          </a:xfrm>
          <a:custGeom>
            <a:avLst/>
            <a:gdLst/>
            <a:ahLst/>
            <a:cxnLst/>
            <a:rect l="l" t="t" r="r" b="b"/>
            <a:pathLst>
              <a:path w="8660085" h="3795792">
                <a:moveTo>
                  <a:pt x="0" y="0"/>
                </a:moveTo>
                <a:lnTo>
                  <a:pt x="8660085" y="0"/>
                </a:lnTo>
                <a:lnTo>
                  <a:pt x="8660085" y="3795791"/>
                </a:lnTo>
                <a:lnTo>
                  <a:pt x="0" y="3795791"/>
                </a:lnTo>
                <a:lnTo>
                  <a:pt x="0" y="0"/>
                </a:lnTo>
                <a:close/>
              </a:path>
            </a:pathLst>
          </a:custGeom>
          <a:blipFill>
            <a:blip r:embed="rId8"/>
            <a:stretch>
              <a:fillRect l="-380" r="-380"/>
            </a:stretch>
          </a:blipFill>
        </p:spPr>
      </p:sp>
      <p:sp>
        <p:nvSpPr>
          <p:cNvPr id="7" name="Freeform 7"/>
          <p:cNvSpPr/>
          <p:nvPr/>
        </p:nvSpPr>
        <p:spPr>
          <a:xfrm>
            <a:off x="9197933" y="5615397"/>
            <a:ext cx="8660085" cy="3795792"/>
          </a:xfrm>
          <a:custGeom>
            <a:avLst/>
            <a:gdLst/>
            <a:ahLst/>
            <a:cxnLst/>
            <a:rect l="l" t="t" r="r" b="b"/>
            <a:pathLst>
              <a:path w="8660085" h="3795792">
                <a:moveTo>
                  <a:pt x="0" y="0"/>
                </a:moveTo>
                <a:lnTo>
                  <a:pt x="8660085" y="0"/>
                </a:lnTo>
                <a:lnTo>
                  <a:pt x="8660085" y="3795791"/>
                </a:lnTo>
                <a:lnTo>
                  <a:pt x="0" y="3795791"/>
                </a:lnTo>
                <a:lnTo>
                  <a:pt x="0" y="0"/>
                </a:lnTo>
                <a:close/>
              </a:path>
            </a:pathLst>
          </a:custGeom>
          <a:blipFill>
            <a:blip r:embed="rId9"/>
            <a:stretch>
              <a:fillRect l="-1471" r="-1471"/>
            </a:stretch>
          </a:blipFill>
        </p:spPr>
      </p:sp>
      <p:sp>
        <p:nvSpPr>
          <p:cNvPr id="8" name="TextBox 8"/>
          <p:cNvSpPr txBox="1"/>
          <p:nvPr/>
        </p:nvSpPr>
        <p:spPr>
          <a:xfrm>
            <a:off x="375561" y="242211"/>
            <a:ext cx="3956609"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Screen shots</a:t>
            </a:r>
          </a:p>
        </p:txBody>
      </p:sp>
      <p:sp>
        <p:nvSpPr>
          <p:cNvPr id="9" name="TextBox 9"/>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10" name="TextBox 10"/>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261261" y="547683"/>
            <a:ext cx="17798139" cy="954548"/>
          </a:xfrm>
          <a:custGeom>
            <a:avLst/>
            <a:gdLst/>
            <a:ahLst/>
            <a:cxnLst/>
            <a:rect l="l" t="t" r="r" b="b"/>
            <a:pathLst>
              <a:path w="17798139" h="954548">
                <a:moveTo>
                  <a:pt x="0" y="0"/>
                </a:moveTo>
                <a:lnTo>
                  <a:pt x="17798139" y="0"/>
                </a:lnTo>
                <a:lnTo>
                  <a:pt x="17798139" y="954548"/>
                </a:lnTo>
                <a:lnTo>
                  <a:pt x="0" y="9545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805339" y="347281"/>
            <a:ext cx="3776543"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Testing Plan</a:t>
            </a:r>
          </a:p>
        </p:txBody>
      </p:sp>
      <p:sp>
        <p:nvSpPr>
          <p:cNvPr id="5" name="TextBox 5"/>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6" name="TextBox 6"/>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13</a:t>
            </a:r>
          </a:p>
        </p:txBody>
      </p:sp>
      <p:pic>
        <p:nvPicPr>
          <p:cNvPr id="8" name="Picture 7">
            <a:extLst>
              <a:ext uri="{FF2B5EF4-FFF2-40B4-BE49-F238E27FC236}">
                <a16:creationId xmlns:a16="http://schemas.microsoft.com/office/drawing/2014/main" id="{66EC8078-6C2E-8E29-6BF6-A5D8C992D01D}"/>
              </a:ext>
            </a:extLst>
          </p:cNvPr>
          <p:cNvPicPr>
            <a:picLocks noChangeAspect="1"/>
          </p:cNvPicPr>
          <p:nvPr/>
        </p:nvPicPr>
        <p:blipFill>
          <a:blip r:embed="rId4"/>
          <a:stretch>
            <a:fillRect/>
          </a:stretch>
        </p:blipFill>
        <p:spPr>
          <a:xfrm>
            <a:off x="2324100" y="1866900"/>
            <a:ext cx="13639800" cy="67084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26569" y="204783"/>
            <a:ext cx="17732831" cy="1248456"/>
          </a:xfrm>
          <a:custGeom>
            <a:avLst/>
            <a:gdLst/>
            <a:ahLst/>
            <a:cxnLst/>
            <a:rect l="l" t="t" r="r" b="b"/>
            <a:pathLst>
              <a:path w="17732831" h="1248456">
                <a:moveTo>
                  <a:pt x="0" y="0"/>
                </a:moveTo>
                <a:lnTo>
                  <a:pt x="17732831" y="0"/>
                </a:lnTo>
                <a:lnTo>
                  <a:pt x="17732831" y="1248456"/>
                </a:lnTo>
                <a:lnTo>
                  <a:pt x="0" y="1248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5157" y="190157"/>
            <a:ext cx="3790059" cy="123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Conclusion</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14</a:t>
            </a:r>
          </a:p>
        </p:txBody>
      </p:sp>
      <p:sp>
        <p:nvSpPr>
          <p:cNvPr id="6" name="TextBox 6"/>
          <p:cNvSpPr txBox="1"/>
          <p:nvPr/>
        </p:nvSpPr>
        <p:spPr>
          <a:xfrm>
            <a:off x="370813" y="1803879"/>
            <a:ext cx="17546375" cy="6957060"/>
          </a:xfrm>
          <a:prstGeom prst="rect">
            <a:avLst/>
          </a:prstGeom>
        </p:spPr>
        <p:txBody>
          <a:bodyPr lIns="0" tIns="0" rIns="0" bIns="0" rtlCol="0" anchor="t">
            <a:spAutoFit/>
          </a:bodyPr>
          <a:lstStyle/>
          <a:p>
            <a:pPr marL="777240" lvl="1" indent="-388620" algn="l">
              <a:lnSpc>
                <a:spcPts val="5040"/>
              </a:lnSpc>
              <a:spcBef>
                <a:spcPct val="0"/>
              </a:spcBef>
              <a:buFont typeface="Arial"/>
              <a:buChar char="•"/>
            </a:pPr>
            <a:r>
              <a:rPr lang="en-US" sz="3600">
                <a:solidFill>
                  <a:srgbClr val="000000"/>
                </a:solidFill>
                <a:latin typeface="Calibri (MS)"/>
                <a:ea typeface="Calibri (MS)"/>
                <a:cs typeface="Calibri (MS)"/>
                <a:sym typeface="Calibri (MS)"/>
              </a:rPr>
              <a:t>Successfully demonstrated a </a:t>
            </a:r>
            <a:r>
              <a:rPr lang="en-US" sz="3600" b="1">
                <a:solidFill>
                  <a:srgbClr val="000000"/>
                </a:solidFill>
                <a:latin typeface="Calibri (MS) Bold"/>
                <a:ea typeface="Calibri (MS) Bold"/>
                <a:cs typeface="Calibri (MS) Bold"/>
                <a:sym typeface="Calibri (MS) Bold"/>
              </a:rPr>
              <a:t>gesture-based infotainment system</a:t>
            </a:r>
            <a:r>
              <a:rPr lang="en-US" sz="3600">
                <a:solidFill>
                  <a:srgbClr val="000000"/>
                </a:solidFill>
                <a:latin typeface="Calibri (MS)"/>
                <a:ea typeface="Calibri (MS)"/>
                <a:cs typeface="Calibri (MS)"/>
                <a:sym typeface="Calibri (MS)"/>
              </a:rPr>
              <a:t> for touch-free control of music, navigation, calls, and settings.</a:t>
            </a:r>
          </a:p>
          <a:p>
            <a:pPr marL="777240" lvl="1" indent="-388620" algn="l">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MediaPipe Hands API integration</a:t>
            </a:r>
            <a:r>
              <a:rPr lang="en-US" sz="3600">
                <a:solidFill>
                  <a:srgbClr val="000000"/>
                </a:solidFill>
                <a:latin typeface="Calibri (MS)"/>
                <a:ea typeface="Calibri (MS)"/>
                <a:cs typeface="Calibri (MS)"/>
                <a:sym typeface="Calibri (MS)"/>
              </a:rPr>
              <a:t> provides real-time, accurate gesture recognition, enhancing driver safety and convenience.</a:t>
            </a:r>
          </a:p>
          <a:p>
            <a:pPr marL="777240" lvl="1" indent="-388620" algn="l">
              <a:lnSpc>
                <a:spcPts val="5040"/>
              </a:lnSpc>
              <a:spcBef>
                <a:spcPct val="0"/>
              </a:spcBef>
              <a:buFont typeface="Arial"/>
              <a:buChar char="•"/>
            </a:pPr>
            <a:r>
              <a:rPr lang="en-US" sz="3600">
                <a:solidFill>
                  <a:srgbClr val="000000"/>
                </a:solidFill>
                <a:latin typeface="Calibri (MS)"/>
                <a:ea typeface="Calibri (MS)"/>
                <a:cs typeface="Calibri (MS)"/>
                <a:sym typeface="Calibri (MS)"/>
              </a:rPr>
              <a:t>The system is modular, responsive, and extensible, built on a </a:t>
            </a:r>
            <a:r>
              <a:rPr lang="en-US" sz="3600" b="1">
                <a:solidFill>
                  <a:srgbClr val="000000"/>
                </a:solidFill>
                <a:latin typeface="Calibri (MS) Bold"/>
                <a:ea typeface="Calibri (MS) Bold"/>
                <a:cs typeface="Calibri (MS) Bold"/>
                <a:sym typeface="Calibri (MS) Bold"/>
              </a:rPr>
              <a:t>PHP-MySQL backend </a:t>
            </a:r>
            <a:r>
              <a:rPr lang="en-US" sz="3600">
                <a:solidFill>
                  <a:srgbClr val="000000"/>
                </a:solidFill>
                <a:latin typeface="Calibri (MS)"/>
                <a:ea typeface="Calibri (MS)"/>
                <a:cs typeface="Calibri (MS)"/>
                <a:sym typeface="Calibri (MS)"/>
              </a:rPr>
              <a:t>for effective data management.</a:t>
            </a:r>
          </a:p>
          <a:p>
            <a:pPr marL="777240" lvl="1" indent="-388620" algn="l">
              <a:lnSpc>
                <a:spcPts val="5040"/>
              </a:lnSpc>
              <a:spcBef>
                <a:spcPct val="0"/>
              </a:spcBef>
              <a:buFont typeface="Arial"/>
              <a:buChar char="•"/>
            </a:pPr>
            <a:r>
              <a:rPr lang="en-US" sz="3600">
                <a:solidFill>
                  <a:srgbClr val="000000"/>
                </a:solidFill>
                <a:latin typeface="Calibri (MS)"/>
                <a:ea typeface="Calibri (MS)"/>
                <a:cs typeface="Calibri (MS)"/>
                <a:sym typeface="Calibri (MS)"/>
              </a:rPr>
              <a:t>A stable and user-friendly interface was achieved through smooth </a:t>
            </a:r>
            <a:r>
              <a:rPr lang="en-US" sz="3600" b="1">
                <a:solidFill>
                  <a:srgbClr val="000000"/>
                </a:solidFill>
                <a:latin typeface="Calibri (MS) Bold"/>
                <a:ea typeface="Calibri (MS) Bold"/>
                <a:cs typeface="Calibri (MS) Bold"/>
                <a:sym typeface="Calibri (MS) Bold"/>
              </a:rPr>
              <a:t>pointer tracking</a:t>
            </a:r>
            <a:r>
              <a:rPr lang="en-US" sz="3600">
                <a:solidFill>
                  <a:srgbClr val="000000"/>
                </a:solidFill>
                <a:latin typeface="Calibri (MS)"/>
                <a:ea typeface="Calibri (MS)"/>
                <a:cs typeface="Calibri (MS)"/>
                <a:sym typeface="Calibri (MS)"/>
              </a:rPr>
              <a:t> and a clear UI.</a:t>
            </a:r>
          </a:p>
          <a:p>
            <a:pPr marL="777240" lvl="1" indent="-388620" algn="l">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Overall Goal Achieved:</a:t>
            </a:r>
            <a:r>
              <a:rPr lang="en-US" sz="3600">
                <a:solidFill>
                  <a:srgbClr val="000000"/>
                </a:solidFill>
                <a:latin typeface="Calibri (MS)"/>
                <a:ea typeface="Calibri (MS)"/>
                <a:cs typeface="Calibri (MS)"/>
                <a:sym typeface="Calibri (MS)"/>
              </a:rPr>
              <a:t> The project successfully combined computer vision and web technologies to create an intelligent, human-centric solution for modern vehicles.</a:t>
            </a:r>
          </a:p>
          <a:p>
            <a:pPr algn="l">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42900" y="547683"/>
            <a:ext cx="17716500" cy="774925"/>
          </a:xfrm>
          <a:custGeom>
            <a:avLst/>
            <a:gdLst/>
            <a:ahLst/>
            <a:cxnLst/>
            <a:rect l="l" t="t" r="r" b="b"/>
            <a:pathLst>
              <a:path w="17716500" h="774925">
                <a:moveTo>
                  <a:pt x="0" y="0"/>
                </a:moveTo>
                <a:lnTo>
                  <a:pt x="17716500" y="0"/>
                </a:lnTo>
                <a:lnTo>
                  <a:pt x="17716500" y="774925"/>
                </a:lnTo>
                <a:lnTo>
                  <a:pt x="0" y="7749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1488" y="352554"/>
            <a:ext cx="12921672"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What you have learnt during Mini Project</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15</a:t>
            </a:r>
          </a:p>
        </p:txBody>
      </p:sp>
      <p:sp>
        <p:nvSpPr>
          <p:cNvPr id="6" name="TextBox 6"/>
          <p:cNvSpPr txBox="1"/>
          <p:nvPr/>
        </p:nvSpPr>
        <p:spPr>
          <a:xfrm>
            <a:off x="610358" y="1692361"/>
            <a:ext cx="17449042" cy="7664768"/>
          </a:xfrm>
          <a:prstGeom prst="rect">
            <a:avLst/>
          </a:prstGeom>
        </p:spPr>
        <p:txBody>
          <a:bodyPr lIns="0" tIns="0" rIns="0" bIns="0" rtlCol="0" anchor="t">
            <a:spAutoFit/>
          </a:bodyPr>
          <a:lstStyle/>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AI Integration:</a:t>
            </a:r>
            <a:r>
              <a:rPr lang="en-US" sz="3299">
                <a:solidFill>
                  <a:srgbClr val="000000"/>
                </a:solidFill>
                <a:latin typeface="Calibri (MS)"/>
                <a:ea typeface="Calibri (MS)"/>
                <a:cs typeface="Calibri (MS)"/>
                <a:sym typeface="Calibri (MS)"/>
              </a:rPr>
              <a:t> Gained hands-on experience with AI gesture recognition (MediaPipe Hands).</a:t>
            </a:r>
          </a:p>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Full-Stack Development:</a:t>
            </a:r>
            <a:r>
              <a:rPr lang="en-US" sz="3299">
                <a:solidFill>
                  <a:srgbClr val="000000"/>
                </a:solidFill>
                <a:latin typeface="Calibri (MS)"/>
                <a:ea typeface="Calibri (MS)"/>
                <a:cs typeface="Calibri (MS)"/>
                <a:sym typeface="Calibri (MS)"/>
              </a:rPr>
              <a:t> Built a modular web application using HTML, CSS, JavaScript, PHP, and MySQL.</a:t>
            </a:r>
          </a:p>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Real-Time Data: </a:t>
            </a:r>
            <a:r>
              <a:rPr lang="en-US" sz="3299">
                <a:solidFill>
                  <a:srgbClr val="000000"/>
                </a:solidFill>
                <a:latin typeface="Calibri (MS)"/>
                <a:ea typeface="Calibri (MS)"/>
                <a:cs typeface="Calibri (MS)"/>
                <a:sym typeface="Calibri (MS)"/>
              </a:rPr>
              <a:t>Handled live camera input, data processing, and UI smoothing via algorithmic optimization.</a:t>
            </a:r>
          </a:p>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API &amp; Communication: </a:t>
            </a:r>
            <a:r>
              <a:rPr lang="en-US" sz="3299">
                <a:solidFill>
                  <a:srgbClr val="000000"/>
                </a:solidFill>
                <a:latin typeface="Calibri (MS)"/>
                <a:ea typeface="Calibri (MS)"/>
                <a:cs typeface="Calibri (MS)"/>
                <a:sym typeface="Calibri (MS)"/>
              </a:rPr>
              <a:t>Understood frontend-backend communication through API design and JSON data exchange.</a:t>
            </a:r>
          </a:p>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Problem-Solving: </a:t>
            </a:r>
            <a:r>
              <a:rPr lang="en-US" sz="3299">
                <a:solidFill>
                  <a:srgbClr val="000000"/>
                </a:solidFill>
                <a:latin typeface="Calibri (MS)"/>
                <a:ea typeface="Calibri (MS)"/>
                <a:cs typeface="Calibri (MS)"/>
                <a:sym typeface="Calibri (MS)"/>
              </a:rPr>
              <a:t>Enhanced debugging skills for tracker lag, UI responsiveness, and network fallbacks.</a:t>
            </a:r>
          </a:p>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SDLC: </a:t>
            </a:r>
            <a:r>
              <a:rPr lang="en-US" sz="3299">
                <a:solidFill>
                  <a:srgbClr val="000000"/>
                </a:solidFill>
                <a:latin typeface="Calibri (MS)"/>
                <a:ea typeface="Calibri (MS)"/>
                <a:cs typeface="Calibri (MS)"/>
                <a:sym typeface="Calibri (MS)"/>
              </a:rPr>
              <a:t>Experienced the complete software development lifecycle (planning, implementation, testing).</a:t>
            </a:r>
          </a:p>
          <a:p>
            <a:pPr marL="712469" lvl="1" indent="-356235" algn="l">
              <a:lnSpc>
                <a:spcPts val="4619"/>
              </a:lnSpc>
              <a:buFont typeface="Arial"/>
              <a:buChar char="•"/>
            </a:pPr>
            <a:r>
              <a:rPr lang="en-US" sz="3299" b="1">
                <a:solidFill>
                  <a:srgbClr val="000000"/>
                </a:solidFill>
                <a:latin typeface="Calibri (MS) Bold"/>
                <a:ea typeface="Calibri (MS) Bold"/>
                <a:cs typeface="Calibri (MS) Bold"/>
                <a:sym typeface="Calibri (MS) Bold"/>
              </a:rPr>
              <a:t>Core Engineering Skills:</a:t>
            </a:r>
            <a:r>
              <a:rPr lang="en-US" sz="3299">
                <a:solidFill>
                  <a:srgbClr val="000000"/>
                </a:solidFill>
                <a:latin typeface="Calibri (MS)"/>
                <a:ea typeface="Calibri (MS)"/>
                <a:cs typeface="Calibri (MS)"/>
                <a:sym typeface="Calibri (MS)"/>
              </a:rPr>
              <a:t> Developed teamwork, documentation, and project management skills.</a:t>
            </a:r>
          </a:p>
          <a:p>
            <a:pPr algn="l">
              <a:lnSpc>
                <a:spcPts val="4619"/>
              </a:lnSpc>
            </a:pPr>
            <a:endParaRPr lang="en-US" sz="3299">
              <a:solidFill>
                <a:srgbClr val="000000"/>
              </a:solidFill>
              <a:latin typeface="Calibri (MS)"/>
              <a:ea typeface="Calibri (MS)"/>
              <a:cs typeface="Calibri (MS)"/>
              <a:sym typeface="Calibri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26569" y="204783"/>
            <a:ext cx="17651192" cy="970864"/>
          </a:xfrm>
          <a:custGeom>
            <a:avLst/>
            <a:gdLst/>
            <a:ahLst/>
            <a:cxnLst/>
            <a:rect l="l" t="t" r="r" b="b"/>
            <a:pathLst>
              <a:path w="17651192" h="970864">
                <a:moveTo>
                  <a:pt x="0" y="0"/>
                </a:moveTo>
                <a:lnTo>
                  <a:pt x="17651192" y="0"/>
                </a:lnTo>
                <a:lnTo>
                  <a:pt x="17651192" y="970864"/>
                </a:lnTo>
                <a:lnTo>
                  <a:pt x="0" y="970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256460" y="347282"/>
            <a:ext cx="3478763"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References</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16</a:t>
            </a:r>
          </a:p>
        </p:txBody>
      </p:sp>
      <p:sp>
        <p:nvSpPr>
          <p:cNvPr id="6" name="TextBox 6"/>
          <p:cNvSpPr txBox="1"/>
          <p:nvPr/>
        </p:nvSpPr>
        <p:spPr>
          <a:xfrm>
            <a:off x="599413" y="2032479"/>
            <a:ext cx="17546375" cy="6957060"/>
          </a:xfrm>
          <a:prstGeom prst="rect">
            <a:avLst/>
          </a:prstGeom>
        </p:spPr>
        <p:txBody>
          <a:bodyPr lIns="0" tIns="0" rIns="0" bIns="0" rtlCol="0" anchor="t">
            <a:spAutoFit/>
          </a:bodyPr>
          <a:lstStyle/>
          <a:p>
            <a:pPr marL="777240" lvl="1" indent="-388620" algn="l">
              <a:lnSpc>
                <a:spcPts val="5040"/>
              </a:lnSpc>
              <a:buFont typeface="Arial"/>
              <a:buChar char="•"/>
            </a:pPr>
            <a:r>
              <a:rPr lang="en-US" sz="3600" b="1">
                <a:solidFill>
                  <a:srgbClr val="000000"/>
                </a:solidFill>
                <a:latin typeface="Calibri (MS) Bold"/>
                <a:ea typeface="Calibri (MS) Bold"/>
                <a:cs typeface="Calibri (MS) Bold"/>
                <a:sym typeface="Calibri (MS) Bold"/>
              </a:rPr>
              <a:t>Google MediaPipe Hands:</a:t>
            </a:r>
          </a:p>
          <a:p>
            <a:pPr algn="l">
              <a:lnSpc>
                <a:spcPts val="5040"/>
              </a:lnSpc>
            </a:pPr>
            <a:r>
              <a:rPr lang="en-US" sz="3600">
                <a:solidFill>
                  <a:srgbClr val="000000"/>
                </a:solidFill>
                <a:latin typeface="Calibri (MS)"/>
                <a:ea typeface="Calibri (MS)"/>
                <a:cs typeface="Calibri (MS)"/>
                <a:sym typeface="Calibri (MS)"/>
              </a:rPr>
              <a:t>        </a:t>
            </a:r>
            <a:r>
              <a:rPr lang="en-US" sz="3600" u="sng">
                <a:solidFill>
                  <a:srgbClr val="000000"/>
                </a:solidFill>
                <a:latin typeface="Calibri (MS)"/>
                <a:ea typeface="Calibri (MS)"/>
                <a:cs typeface="Calibri (MS)"/>
                <a:sym typeface="Calibri (MS)"/>
                <a:hlinkClick r:id="rId4" tooltip="https://developers.google.com/mediapipe/solutions/vision/hand_landmarker?authuser=1"/>
              </a:rPr>
              <a:t>https://developers.google.com/mediapipe/solutions/vision/hand_landmarker</a:t>
            </a:r>
          </a:p>
          <a:p>
            <a:pPr marL="777240" lvl="1" indent="-388620" algn="l">
              <a:lnSpc>
                <a:spcPts val="5040"/>
              </a:lnSpc>
              <a:buFont typeface="Arial"/>
              <a:buChar char="•"/>
            </a:pPr>
            <a:r>
              <a:rPr lang="en-US" sz="3600" b="1">
                <a:solidFill>
                  <a:srgbClr val="000000"/>
                </a:solidFill>
                <a:latin typeface="Calibri (MS) Bold"/>
                <a:ea typeface="Calibri (MS) Bold"/>
                <a:cs typeface="Calibri (MS) Bold"/>
                <a:sym typeface="Calibri (MS) Bold"/>
              </a:rPr>
              <a:t>Leaflet.js:</a:t>
            </a:r>
          </a:p>
          <a:p>
            <a:pPr algn="l">
              <a:lnSpc>
                <a:spcPts val="5040"/>
              </a:lnSpc>
            </a:pPr>
            <a:r>
              <a:rPr lang="en-US" sz="3600">
                <a:solidFill>
                  <a:srgbClr val="000000"/>
                </a:solidFill>
                <a:latin typeface="Calibri (MS)"/>
                <a:ea typeface="Calibri (MS)"/>
                <a:cs typeface="Calibri (MS)"/>
                <a:sym typeface="Calibri (MS)"/>
              </a:rPr>
              <a:t>        </a:t>
            </a:r>
            <a:r>
              <a:rPr lang="en-US" sz="3600" u="sng">
                <a:solidFill>
                  <a:srgbClr val="000000"/>
                </a:solidFill>
                <a:latin typeface="Calibri (MS)"/>
                <a:ea typeface="Calibri (MS)"/>
                <a:cs typeface="Calibri (MS)"/>
                <a:sym typeface="Calibri (MS)"/>
                <a:hlinkClick r:id="rId5" tooltip="https://leafletjs.com"/>
              </a:rPr>
              <a:t>https://leafletjs.com/</a:t>
            </a:r>
          </a:p>
          <a:p>
            <a:pPr marL="777240" lvl="1" indent="-388620" algn="l">
              <a:lnSpc>
                <a:spcPts val="5040"/>
              </a:lnSpc>
              <a:buFont typeface="Arial"/>
              <a:buChar char="•"/>
            </a:pPr>
            <a:r>
              <a:rPr lang="en-US" sz="3600" b="1">
                <a:solidFill>
                  <a:srgbClr val="000000"/>
                </a:solidFill>
                <a:latin typeface="Calibri (MS) Bold"/>
                <a:ea typeface="Calibri (MS) Bold"/>
                <a:cs typeface="Calibri (MS) Bold"/>
                <a:sym typeface="Calibri (MS) Bold"/>
              </a:rPr>
              <a:t>OpenStreetMap:</a:t>
            </a:r>
          </a:p>
          <a:p>
            <a:pPr algn="l">
              <a:lnSpc>
                <a:spcPts val="5040"/>
              </a:lnSpc>
            </a:pPr>
            <a:r>
              <a:rPr lang="en-US" sz="3600">
                <a:solidFill>
                  <a:srgbClr val="000000"/>
                </a:solidFill>
                <a:latin typeface="Calibri (MS)"/>
                <a:ea typeface="Calibri (MS)"/>
                <a:cs typeface="Calibri (MS)"/>
                <a:sym typeface="Calibri (MS)"/>
              </a:rPr>
              <a:t>        </a:t>
            </a:r>
            <a:r>
              <a:rPr lang="en-US" sz="3600" u="sng">
                <a:solidFill>
                  <a:srgbClr val="000000"/>
                </a:solidFill>
                <a:latin typeface="Calibri (MS)"/>
                <a:ea typeface="Calibri (MS)"/>
                <a:cs typeface="Calibri (MS)"/>
                <a:sym typeface="Calibri (MS)"/>
                <a:hlinkClick r:id="rId6" tooltip="https://www.openstreetmap.org"/>
              </a:rPr>
              <a:t>https://www.openstreetmap.org/</a:t>
            </a:r>
          </a:p>
          <a:p>
            <a:pPr marL="777240" lvl="1" indent="-388620" algn="l">
              <a:lnSpc>
                <a:spcPts val="5040"/>
              </a:lnSpc>
              <a:buFont typeface="Arial"/>
              <a:buChar char="•"/>
            </a:pPr>
            <a:r>
              <a:rPr lang="en-US" sz="3600" b="1">
                <a:solidFill>
                  <a:srgbClr val="000000"/>
                </a:solidFill>
                <a:latin typeface="Calibri (MS) Bold"/>
                <a:ea typeface="Calibri (MS) Bold"/>
                <a:cs typeface="Calibri (MS) Bold"/>
                <a:sym typeface="Calibri (MS) Bold"/>
              </a:rPr>
              <a:t>PHP (Documentation):</a:t>
            </a:r>
          </a:p>
          <a:p>
            <a:pPr algn="l">
              <a:lnSpc>
                <a:spcPts val="5040"/>
              </a:lnSpc>
            </a:pPr>
            <a:r>
              <a:rPr lang="en-US" sz="3600">
                <a:solidFill>
                  <a:srgbClr val="000000"/>
                </a:solidFill>
                <a:latin typeface="Calibri (MS)"/>
                <a:ea typeface="Calibri (MS)"/>
                <a:cs typeface="Calibri (MS)"/>
                <a:sym typeface="Calibri (MS)"/>
              </a:rPr>
              <a:t>        </a:t>
            </a:r>
            <a:r>
              <a:rPr lang="en-US" sz="3600" u="sng">
                <a:solidFill>
                  <a:srgbClr val="000000"/>
                </a:solidFill>
                <a:latin typeface="Calibri (MS)"/>
                <a:ea typeface="Calibri (MS)"/>
                <a:cs typeface="Calibri (MS)"/>
                <a:sym typeface="Calibri (MS)"/>
                <a:hlinkClick r:id="rId7" tooltip="https://www.php.net/manual/en/"/>
              </a:rPr>
              <a:t>https://www.php.net/manual/en/</a:t>
            </a:r>
          </a:p>
          <a:p>
            <a:pPr marL="777240" lvl="1" indent="-388620" algn="l">
              <a:lnSpc>
                <a:spcPts val="5040"/>
              </a:lnSpc>
              <a:buFont typeface="Arial"/>
              <a:buChar char="•"/>
            </a:pPr>
            <a:r>
              <a:rPr lang="en-US" sz="3600" b="1">
                <a:solidFill>
                  <a:srgbClr val="000000"/>
                </a:solidFill>
                <a:latin typeface="Calibri (MS) Bold"/>
                <a:ea typeface="Calibri (MS) Bold"/>
                <a:cs typeface="Calibri (MS) Bold"/>
                <a:sym typeface="Calibri (MS) Bold"/>
              </a:rPr>
              <a:t>MySQL (Documentation):</a:t>
            </a:r>
          </a:p>
          <a:p>
            <a:pPr algn="l">
              <a:lnSpc>
                <a:spcPts val="5040"/>
              </a:lnSpc>
            </a:pPr>
            <a:r>
              <a:rPr lang="en-US" sz="3600">
                <a:solidFill>
                  <a:srgbClr val="000000"/>
                </a:solidFill>
                <a:latin typeface="Calibri (MS)"/>
                <a:ea typeface="Calibri (MS)"/>
                <a:cs typeface="Calibri (MS)"/>
                <a:sym typeface="Calibri (MS)"/>
              </a:rPr>
              <a:t>        </a:t>
            </a:r>
            <a:r>
              <a:rPr lang="en-US" sz="3600" u="sng">
                <a:solidFill>
                  <a:srgbClr val="000000"/>
                </a:solidFill>
                <a:latin typeface="Calibri (MS)"/>
                <a:ea typeface="Calibri (MS)"/>
                <a:cs typeface="Calibri (MS)"/>
                <a:sym typeface="Calibri (MS)"/>
                <a:hlinkClick r:id="rId8" tooltip="https://dev.mysql.com/doc/"/>
              </a:rPr>
              <a:t>https://dev.mysql.com/doc/</a:t>
            </a:r>
          </a:p>
          <a:p>
            <a:pPr algn="l">
              <a:lnSpc>
                <a:spcPts val="5040"/>
              </a:lnSpc>
              <a:spcBef>
                <a:spcPct val="0"/>
              </a:spcBef>
            </a:pPr>
            <a:endParaRPr lang="en-US" sz="3600" u="sng">
              <a:solidFill>
                <a:srgbClr val="000000"/>
              </a:solidFill>
              <a:latin typeface="Calibri (MS)"/>
              <a:ea typeface="Calibri (MS)"/>
              <a:cs typeface="Calibri (MS)"/>
              <a:sym typeface="Calibri (MS)"/>
              <a:hlinkClick r:id="rId8" tooltip="https://dev.mysql.com/do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1281</Words>
  <Application>Microsoft Office PowerPoint</Application>
  <PresentationFormat>Custom</PresentationFormat>
  <Paragraphs>199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Calibri (MS) Bold</vt:lpstr>
      <vt:lpstr>Calibri</vt:lpstr>
      <vt:lpstr>Calibri (MS)</vt:lpstr>
      <vt:lpstr>TT Hoves</vt:lpstr>
      <vt:lpstr>Arial</vt:lpstr>
      <vt:lpstr>Times New Roman</vt:lpstr>
      <vt:lpstr>TT Hoves Bold</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dc:title>
  <dc:creator>Jayashankar P</dc:creator>
  <cp:lastModifiedBy>Jayashankar P</cp:lastModifiedBy>
  <cp:revision>2</cp:revision>
  <dcterms:created xsi:type="dcterms:W3CDTF">2006-08-16T00:00:00Z</dcterms:created>
  <dcterms:modified xsi:type="dcterms:W3CDTF">2025-12-05T15:05:20Z</dcterms:modified>
  <dc:identifier>DAG4TURoyDc</dc:identifier>
</cp:coreProperties>
</file>